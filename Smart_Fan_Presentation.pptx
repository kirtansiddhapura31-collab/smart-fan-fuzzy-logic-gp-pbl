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153e1437a424630" /><Relationship Type="http://schemas.openxmlformats.org/officeDocument/2006/relationships/extended-properties" Target="/docProps/app.xml" Id="R2241502daa5c40b9" /><Relationship Type="http://schemas.openxmlformats.org/officeDocument/2006/relationships/officeDocument" Target="/ppt/presentation.xml" Id="Rcfaa7682e41b42ef" /></Relationships>
</file>

<file path=ppt/presentation.xml><?xml version="1.0" encoding="utf-8"?>
<p:presentation xmlns:p="http://schemas.openxmlformats.org/presentationml/2006/main">
  <p:sldMasterIdLst>
    <p:sldMasterId xmlns:r="http://schemas.openxmlformats.org/officeDocument/2006/relationships" id="2147483648" r:id="Re0fc651d71c04dd2"/>
  </p:sldMasterIdLst>
  <p:notesMasterIdLst>
    <p:notesMasterId xmlns:r="http://schemas.openxmlformats.org/officeDocument/2006/relationships" r:id="R37173263c1304194"/>
  </p:notesMasterIdLst>
  <p:sldIdLst>
    <p:sldId xmlns:r="http://schemas.openxmlformats.org/officeDocument/2006/relationships" id="256" r:id="Racb9ff0d36864d0a"/>
    <p:sldId xmlns:r="http://schemas.openxmlformats.org/officeDocument/2006/relationships" id="257" r:id="Rcb9ed75a37ed4feb"/>
    <p:sldId xmlns:r="http://schemas.openxmlformats.org/officeDocument/2006/relationships" id="258" r:id="Rfdb23ccd5f694a7d"/>
    <p:sldId xmlns:r="http://schemas.openxmlformats.org/officeDocument/2006/relationships" id="259" r:id="R1177ea3391cf4a88"/>
    <p:sldId xmlns:r="http://schemas.openxmlformats.org/officeDocument/2006/relationships" id="260" r:id="R007562ce11af4fb8"/>
    <p:sldId xmlns:r="http://schemas.openxmlformats.org/officeDocument/2006/relationships" id="261" r:id="R9ebd8708ecd84e7a"/>
    <p:sldId xmlns:r="http://schemas.openxmlformats.org/officeDocument/2006/relationships" id="262" r:id="R35d5d920a77d4780"/>
    <p:sldId xmlns:r="http://schemas.openxmlformats.org/officeDocument/2006/relationships" id="263" r:id="Ra867d56eebcc4f11"/>
    <p:sldId xmlns:r="http://schemas.openxmlformats.org/officeDocument/2006/relationships" id="264" r:id="R6cc48f5bb4c24055"/>
    <p:sldId xmlns:r="http://schemas.openxmlformats.org/officeDocument/2006/relationships" id="265" r:id="R51b00f4a9fee432d"/>
    <p:sldId xmlns:r="http://schemas.openxmlformats.org/officeDocument/2006/relationships" id="266" r:id="Rd7f61553021c4499"/>
    <p:sldId xmlns:r="http://schemas.openxmlformats.org/officeDocument/2006/relationships" id="267" r:id="R985823b68e0348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feedf6185748c5" /><Relationship Type="http://schemas.openxmlformats.org/officeDocument/2006/relationships/slideMaster" Target="/ppt/slideMasters/slideMaster1.xml" Id="Re0fc651d71c04dd2" /><Relationship Type="http://schemas.openxmlformats.org/officeDocument/2006/relationships/notesMaster" Target="/ppt/notesMasters/notesMaster1.xml" Id="R37173263c1304194" /><Relationship Type="http://schemas.openxmlformats.org/officeDocument/2006/relationships/presProps" Target="/ppt/presProps.xml" Id="Rf39f0aae44c04bc0" /><Relationship Type="http://schemas.openxmlformats.org/officeDocument/2006/relationships/tableStyles" Target="/ppt/tableStyles.xml" Id="R301373007b3a40e2" /><Relationship Type="http://schemas.openxmlformats.org/officeDocument/2006/relationships/slide" Target="/ppt/slides/slide1.xml" Id="Racb9ff0d36864d0a" /><Relationship Type="http://schemas.openxmlformats.org/officeDocument/2006/relationships/slide" Target="/ppt/slides/slide2.xml" Id="Rcb9ed75a37ed4feb" /><Relationship Type="http://schemas.openxmlformats.org/officeDocument/2006/relationships/slide" Target="/ppt/slides/slide3.xml" Id="Rfdb23ccd5f694a7d" /><Relationship Type="http://schemas.openxmlformats.org/officeDocument/2006/relationships/slide" Target="/ppt/slides/slide4.xml" Id="R1177ea3391cf4a88" /><Relationship Type="http://schemas.openxmlformats.org/officeDocument/2006/relationships/slide" Target="/ppt/slides/slide5.xml" Id="R007562ce11af4fb8" /><Relationship Type="http://schemas.openxmlformats.org/officeDocument/2006/relationships/slide" Target="/ppt/slides/slide6.xml" Id="R9ebd8708ecd84e7a" /><Relationship Type="http://schemas.openxmlformats.org/officeDocument/2006/relationships/slide" Target="/ppt/slides/slide7.xml" Id="R35d5d920a77d4780" /><Relationship Type="http://schemas.openxmlformats.org/officeDocument/2006/relationships/slide" Target="/ppt/slides/slide8.xml" Id="Ra867d56eebcc4f11" /><Relationship Type="http://schemas.openxmlformats.org/officeDocument/2006/relationships/slide" Target="/ppt/slides/slide9.xml" Id="R6cc48f5bb4c24055" /><Relationship Type="http://schemas.openxmlformats.org/officeDocument/2006/relationships/slide" Target="/ppt/slides/slide10.xml" Id="R51b00f4a9fee432d" /><Relationship Type="http://schemas.openxmlformats.org/officeDocument/2006/relationships/slide" Target="/ppt/slides/slide11.xml" Id="Rd7f61553021c4499" /><Relationship Type="http://schemas.openxmlformats.org/officeDocument/2006/relationships/slide" Target="/ppt/slides/slide12.xml" Id="R985823b68e0348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d395a40d2249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4cb05e2a194d7b" /><Relationship Type="http://schemas.openxmlformats.org/officeDocument/2006/relationships/notesMaster" Target="/ppt/notesMasters/notesMaster1.xml" Id="R38663532fe1e4f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4565d6aedf47ec" /><Relationship Type="http://schemas.openxmlformats.org/officeDocument/2006/relationships/notesMaster" Target="/ppt/notesMasters/notesMaster1.xml" Id="Rfaf6cebfc6e244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3f0ac8341f4048" /><Relationship Type="http://schemas.openxmlformats.org/officeDocument/2006/relationships/notesMaster" Target="/ppt/notesMasters/notesMaster1.xml" Id="R63596a41974542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26641a33ac48d6" /><Relationship Type="http://schemas.openxmlformats.org/officeDocument/2006/relationships/notesMaster" Target="/ppt/notesMasters/notesMaster1.xml" Id="R412225091c2c4b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d17bea264d42f0" /><Relationship Type="http://schemas.openxmlformats.org/officeDocument/2006/relationships/notesMaster" Target="/ppt/notesMasters/notesMaster1.xml" Id="Rf381fc1dcdba46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f9af881f2c4c62" /><Relationship Type="http://schemas.openxmlformats.org/officeDocument/2006/relationships/notesMaster" Target="/ppt/notesMasters/notesMaster1.xml" Id="R51cdd3d80e584d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e538669e964be3" /><Relationship Type="http://schemas.openxmlformats.org/officeDocument/2006/relationships/notesMaster" Target="/ppt/notesMasters/notesMaster1.xml" Id="Rcfd00f0f525a4c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5ed119649d4ed8" /><Relationship Type="http://schemas.openxmlformats.org/officeDocument/2006/relationships/notesMaster" Target="/ppt/notesMasters/notesMaster1.xml" Id="Rad5efd62616f45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63f800225143e4" /><Relationship Type="http://schemas.openxmlformats.org/officeDocument/2006/relationships/notesMaster" Target="/ppt/notesMasters/notesMaster1.xml" Id="R657392044cbd4d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55c8982da04679" /><Relationship Type="http://schemas.openxmlformats.org/officeDocument/2006/relationships/notesMaster" Target="/ppt/notesMasters/notesMaster1.xml" Id="Rb897b27707d049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e378fac3ad4433e" /><Relationship Type="http://schemas.openxmlformats.org/officeDocument/2006/relationships/notesMaster" Target="/ppt/notesMasters/notesMaster1.xml" Id="R3affaf14182f44d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7e32a28bad4e1f" /><Relationship Type="http://schemas.openxmlformats.org/officeDocument/2006/relationships/notesMaster" Target="/ppt/notesMasters/notesMaster1.xml" Id="Rc70fe8ea40bc45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Our group presents a smart fan speed controller for the Fuzzy Logic and Genetic Programming subject at L. D. College of Engineering, Ahmedabad. We are four Chemical Engineering students from Division A. This project is a software simulation.</a:t>
            </a:r>
          </a:p>
          <a:p xmlns:a="http://schemas.openxmlformats.org/drawingml/2006/main">
            <a:r>
              <a:t/>
            </a:r>
          </a:p>
          <a:p xmlns:a="http://schemas.openxmlformats.org/drawingml/2006/main">
            <a:r>
              <a:t>References: https://scikit-fuzzy.github.io/scikit-fuzzy/auto_examples/plot_tipping_problem_newapi.html ; https://deap.readthedocs.io/en/stable/tutorials/advanced/gp.html . All parameter choices and results are project-specific simulations.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fan adjustment requires attention as room conditions change. A simple temperature threshold ignores humidity. We use two inputs to create an interpretable fan command. The fan provides airflow. We do not claim that it removes humidity or lowers the room temperature.</a:t>
            </a:r>
          </a:p>
          <a:p xmlns:a="http://schemas.openxmlformats.org/drawingml/2006/main">
            <a:r>
              <a:t/>
            </a:r>
          </a:p>
          <a:p xmlns:a="http://schemas.openxmlformats.org/drawingml/2006/main">
            <a:r>
              <a:t>References: https://scikit-fuzzy.github.io/scikit-fuzzy/auto_examples/plot_tipping_problem_newapi.html ; https://deap.readthedocs.io/en/stable/tutorials/advanced/gp.html . All parameter choices and results are project-specific simulations.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objectives are to define fuzzy sets, build nine understandable rules, implement the controller, and test its response. A separate genetic programming experiment learns an approximation of simulated fuzzy outputs. We report model limitations instead of claiming measured energy savings.</a:t>
            </a:r>
          </a:p>
          <a:p xmlns:a="http://schemas.openxmlformats.org/drawingml/2006/main">
            <a:r>
              <a:t/>
            </a:r>
          </a:p>
          <a:p xmlns:a="http://schemas.openxmlformats.org/drawingml/2006/main">
            <a:r>
              <a:t>References: https://scikit-fuzzy.github.io/scikit-fuzzy/auto_examples/plot_tipping_problem_newapi.html ; https://deap.readthedocs.io/en/stable/tutorials/advanced/gp.html . All parameter choices and results are project-specific simulations.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Temperature ranges from fifteen to forty degrees Celsius. Relative humidity ranges from twenty to ninety percent. The output is a normalized fan command from zero to one hundred percent. We validate, fuzzify, evaluate rules, aggregate consequents, and calculate the centroid. Hardware integration remains future work.</a:t>
            </a:r>
          </a:p>
          <a:p xmlns:a="http://schemas.openxmlformats.org/drawingml/2006/main">
            <a:r>
              <a:t/>
            </a:r>
          </a:p>
          <a:p xmlns:a="http://schemas.openxmlformats.org/drawingml/2006/main">
            <a:r>
              <a:t>References: https://scikit-fuzzy.github.io/scikit-fuzzy/auto_examples/plot_tipping_problem_newapi.html ; https://deap.readthedocs.io/en/stable/tutorials/advanced/gp.html . All parameter choices and results are project-specific simulations.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variable has low, medium and high triangular memberships. Shoulder sets cover the ends of the domain. A reading can belong partly to more than one set. These degrees are memberships, not probabilities. The thresholds are illustrative classroom design choices.</a:t>
            </a:r>
          </a:p>
          <a:p xmlns:a="http://schemas.openxmlformats.org/drawingml/2006/main">
            <a:r>
              <a:t/>
            </a:r>
          </a:p>
          <a:p xmlns:a="http://schemas.openxmlformats.org/drawingml/2006/main">
            <a:r>
              <a:t>References: https://scikit-fuzzy.github.io/scikit-fuzzy/auto_examples/plot_tipping_problem_newapi.html ; https://deap.readthedocs.io/en/stable/tutorials/advanced/gp.html . All parameter choices and results are project-specific simulations.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contains nine rules. Each row is a temperature set and each column is a humidity set. For example, medium temperature and high humidity request high fan speed. High temperature requests high speed at every humidity level. Every rule has equal weight.</a:t>
            </a:r>
          </a:p>
          <a:p xmlns:a="http://schemas.openxmlformats.org/drawingml/2006/main">
            <a:r>
              <a:t/>
            </a:r>
          </a:p>
          <a:p xmlns:a="http://schemas.openxmlformats.org/drawingml/2006/main">
            <a:r>
              <a:t>References: https://scikit-fuzzy.github.io/scikit-fuzzy/auto_examples/plot_tipping_problem_newapi.html ; https://deap.readthedocs.io/en/stable/tutorials/advanced/gp.html . All parameter choices and results are project-specific simulations.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implementation uses NumPy, so scikit fuzzy is not required. AND takes the minimum membership. Each output set is clipped at its rule strength. Maximum combines all clipped sets. Trapezoidal integration calculates the output centroid on a zero point one percentage point grid. Invalid inputs raise an error.</a:t>
            </a:r>
          </a:p>
          <a:p xmlns:a="http://schemas.openxmlformats.org/drawingml/2006/main">
            <a:r>
              <a:t/>
            </a:r>
          </a:p>
          <a:p xmlns:a="http://schemas.openxmlformats.org/drawingml/2006/main">
            <a:r>
              <a:t>References: https://scikit-fuzzy.github.io/scikit-fuzzy/auto_examples/plot_tipping_problem_newapi.html ; https://deap.readthedocs.io/en/stable/tutorials/advanced/gp.html . All parameter choices and results are project-specific simulations.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thirty degrees, medium temperature membership is zero point seven five. At eighty percent humidity, high membership is zero point six. The strongest rule clips the high output at zero point six. Medium output also activates at zero point two. Their aggregated centroid gives a seventy three point one one three percent fan command.</a:t>
            </a:r>
          </a:p>
          <a:p xmlns:a="http://schemas.openxmlformats.org/drawingml/2006/main">
            <a:r>
              <a:t/>
            </a:r>
          </a:p>
          <a:p xmlns:a="http://schemas.openxmlformats.org/drawingml/2006/main">
            <a:r>
              <a:t>References: https://scikit-fuzzy.github.io/scikit-fuzzy/auto_examples/plot_tipping_problem_newapi.html ; https://deap.readthedocs.io/en/stable/tutorials/advanced/gp.html . All parameter choices and results are project-specific simulations.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examples span cool, moderate and warm conditions. Twenty eight degrees and sixty percent humidity gives fifty percent. Forty degrees and ninety percent gives about eighty three point three three percent. A shoulder output reaches its centroid inside its support, so the command does not reach one hundred percent.</a:t>
            </a:r>
          </a:p>
          <a:p xmlns:a="http://schemas.openxmlformats.org/drawingml/2006/main">
            <a:r>
              <a:t/>
            </a:r>
          </a:p>
          <a:p xmlns:a="http://schemas.openxmlformats.org/drawingml/2006/main">
            <a:r>
              <a:t>References: https://scikit-fuzzy.github.io/scikit-fuzzy/auto_examples/plot_tipping_problem_newapi.html ; https://deap.readthedocs.io/en/stable/tutorials/advanced/gp.html . All parameter choices and results are project-specific simulations.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one thousand four hundred and seventy nine validation points returned finite bounded outputs. The response is continuous, but it has small local decreases. On our test grid the largest temperature step decrease is one point three six percentage points. The largest humidity step decrease is two point three nine points. The report explains these centroid effects.</a:t>
            </a:r>
          </a:p>
          <a:p xmlns:a="http://schemas.openxmlformats.org/drawingml/2006/main">
            <a:r>
              <a:t/>
            </a:r>
          </a:p>
          <a:p xmlns:a="http://schemas.openxmlformats.org/drawingml/2006/main">
            <a:r>
              <a:t>References: https://scikit-fuzzy.github.io/scikit-fuzzy/auto_examples/plot_tipping_problem_newapi.html ; https://deap.readthedocs.io/en/stable/tutorials/advanced/gp.html . All parameter choices and results are project-specific simulations.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Genetic programming evolves expression trees using addition, subtraction, multiplication, minimum and maximum. We use one hundred trees for forty generations with a fixed seed. Eighty five samples train the model and thirty six are held out. Test error is nine point four three one percentage points against the simulated fuzzy target. This experiment does not optimize real comfort.</a:t>
            </a:r>
          </a:p>
          <a:p xmlns:a="http://schemas.openxmlformats.org/drawingml/2006/main">
            <a:r>
              <a:t/>
            </a:r>
          </a:p>
          <a:p xmlns:a="http://schemas.openxmlformats.org/drawingml/2006/main">
            <a:r>
              <a:t>References: https://scikit-fuzzy.github.io/scikit-fuzzy/auto_examples/plot_tipping_problem_newapi.html ; https://deap.readthedocs.io/en/stable/tutorials/advanced/gp.html . All parameter choices and results are project-specific simulations.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demonstrates an explainable fuzzy controller and an actual genetic programming approximation. Our deliverables include reproducible code, graphs, a report, and this presentation. Future work includes monotonic response tuning and hardware calibration. Public repository, LinkedIn and video links will be added after the group uploads the files. Thank you.</a:t>
            </a:r>
          </a:p>
          <a:p xmlns:a="http://schemas.openxmlformats.org/drawingml/2006/main">
            <a:r>
              <a:t/>
            </a:r>
          </a:p>
          <a:p xmlns:a="http://schemas.openxmlformats.org/drawingml/2006/main">
            <a:r>
              <a:t>References: https://scikit-fuzzy.github.io/scikit-fuzzy/auto_examples/plot_tipping_problem_newapi.html ; https://deap.readthedocs.io/en/stable/tutorials/advanced/gp.html . All parameter choices and results are project-specific simulations.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73486bacdf45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e4388efd6804f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0377333c704a2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e6fe551c78a496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9459095b13491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661d2c7ea7446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44B900-C7BA-4620-93B9-507FA7B3086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CB3E2A-2876-47EF-AD79-AAB74CC3C48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3CE534D-6903-4EF5-9D71-9E4A1D2B13C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712AC6-3B0F-4BCA-8002-FBB7555632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568CF66-2F0F-4E85-8B5B-F9291B5761B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C07F69E-C7A9-4130-A7CE-B6CAB96257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FD8C2A-8DBE-4C4D-8747-CFE629B0EF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12B5E2A-32A8-4E7D-AB3B-9ACC6536F90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31A188-5573-4B82-82BB-EE7FCD596D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7FCFE7-D8C1-46A9-B0C9-738060A7D4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d0bd3da1c94cd5" /><Relationship Type="http://schemas.openxmlformats.org/officeDocument/2006/relationships/slideLayout" Target="/ppt/slideLayouts/slideLayout1.xml" Id="Rf163b1dab1f048e3" /><Relationship Type="http://schemas.openxmlformats.org/officeDocument/2006/relationships/slideLayout" Target="/ppt/slideLayouts/slideLayout2.xml" Id="Ree3622591adc4b32" /><Relationship Type="http://schemas.openxmlformats.org/officeDocument/2006/relationships/slideLayout" Target="/ppt/slideLayouts/slideLayout3.xml" Id="Raec09a994ee64f46" /><Relationship Type="http://schemas.openxmlformats.org/officeDocument/2006/relationships/slideLayout" Target="/ppt/slideLayouts/slideLayout4.xml" Id="R6c18cc86b3844bff" /><Relationship Type="http://schemas.openxmlformats.org/officeDocument/2006/relationships/slideLayout" Target="/ppt/slideLayouts/slideLayout5.xml" Id="R900c1c9501d04be6" /><Relationship Type="http://schemas.openxmlformats.org/officeDocument/2006/relationships/slideLayout" Target="/ppt/slideLayouts/slideLayout6.xml" Id="R944a8e7cb9d940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63b1dab1f048e3"/>
    <p:sldLayoutId xmlns:r="http://schemas.openxmlformats.org/officeDocument/2006/relationships" id="2147483650" r:id="Ree3622591adc4b32"/>
    <p:sldLayoutId xmlns:r="http://schemas.openxmlformats.org/officeDocument/2006/relationships" id="2147483651" r:id="Raec09a994ee64f46"/>
    <p:sldLayoutId xmlns:r="http://schemas.openxmlformats.org/officeDocument/2006/relationships" id="2147483652" r:id="R6c18cc86b3844bff"/>
    <p:sldLayoutId xmlns:r="http://schemas.openxmlformats.org/officeDocument/2006/relationships" id="2147483653" r:id="R900c1c9501d04be6"/>
    <p:sldLayoutId xmlns:r="http://schemas.openxmlformats.org/officeDocument/2006/relationships" id="2147483654" r:id="R944a8e7cb9d940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042fc1e62144818" /><Relationship Type="http://schemas.openxmlformats.org/officeDocument/2006/relationships/notesSlide" Target="/ppt/notesSlides/notesSlide1.xml" Id="Rc26ad400a1174b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1cb15ce3af84a2d" /><Relationship Type="http://schemas.openxmlformats.org/officeDocument/2006/relationships/notesSlide" Target="/ppt/notesSlides/notesSlide2.xml" Id="Ra8774a6e587444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ffb7869aa444997" /><Relationship Type="http://schemas.openxmlformats.org/officeDocument/2006/relationships/notesSlide" Target="/ppt/notesSlides/notesSlide3.xml" Id="R1cb38df3b3c94a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6bf370329a64954" /><Relationship Type="http://schemas.openxmlformats.org/officeDocument/2006/relationships/notesSlide" Target="/ppt/notesSlides/notesSlide4.xml" Id="R0eb244c6c6aa45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f2abac96497445f" /><Relationship Type="http://schemas.openxmlformats.org/officeDocument/2006/relationships/chart" Target="/ppt/slides/charts/chart1.xml" Id="R6bd3e2ed3d4d4bc7" /><Relationship Type="http://schemas.openxmlformats.org/officeDocument/2006/relationships/notesSlide" Target="/ppt/notesSlides/notesSlide5.xml" Id="Rab1cd71b26cc4d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e5b891d349e40f3" /><Relationship Type="http://schemas.openxmlformats.org/officeDocument/2006/relationships/notesSlide" Target="/ppt/notesSlides/notesSlide6.xml" Id="R47d0af013bf041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440f7599a6f4b0f" /><Relationship Type="http://schemas.openxmlformats.org/officeDocument/2006/relationships/notesSlide" Target="/ppt/notesSlides/notesSlide7.xml" Id="Rc792334ee0784c1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cdd021aafd649d1" /><Relationship Type="http://schemas.openxmlformats.org/officeDocument/2006/relationships/notesSlide" Target="/ppt/notesSlides/notesSlide8.xml" Id="Rd299479a445042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e961beb39574595" /><Relationship Type="http://schemas.openxmlformats.org/officeDocument/2006/relationships/notesSlide" Target="/ppt/notesSlides/notesSlide9.xml" Id="R269a3ad360e745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5fe7e88cb6a44b8" /><Relationship Type="http://schemas.openxmlformats.org/officeDocument/2006/relationships/chart" Target="/ppt/slides/charts/chart2.xml" Id="R9a6d1a67316a41d6" /><Relationship Type="http://schemas.openxmlformats.org/officeDocument/2006/relationships/notesSlide" Target="/ppt/notesSlides/notesSlide10.xml" Id="Rb1de2af3b2864d7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5dd0e71a2164e7b" /><Relationship Type="http://schemas.openxmlformats.org/officeDocument/2006/relationships/notesSlide" Target="/ppt/notesSlides/notesSlide11.xml" Id="R647a9d9f70734e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aad382686964ffd" /><Relationship Type="http://schemas.openxmlformats.org/officeDocument/2006/relationships/notesSlide" Target="/ppt/notesSlides/notesSlide12.xml" Id="Ra7612cf857aa446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ns1="http://schemas.openxmlformats.org/drawingml/2006/main" xmlns:r="http://schemas.openxmlformats.org/officeDocument/2006/relationships">
  <c:lang val="en-US"/>
  <c:chart>
    <c:plotArea>
      <c:lineChart>
        <c:grouping val="standard"/>
        <c:varyColors val="0"/>
        <c:ser>
          <c:idx val="0"/>
          <c:order val="0"/>
          <c:tx>
            <c:v>Low</c:v>
          </c:tx>
          <c:spPr>
            <ns1:solidFill>
              <ns1:srgbClr val="087F8C"/>
            </ns1:solidFill>
          </c:spPr>
          <c:marker>
            <c:symbol val="none"/>
          </c:marker>
          <c:cat>
            <c:numRef>
              <c:f>'Chart Data'!$A$2:$A$27</c:f>
              <c:numCache>
                <c:formatCode>General</c:formatCode>
                <c:ptCount val="26"/>
                <c:pt idx="0">
                  <c:v>15.0</c:v>
                </c:pt>
                <c:pt idx="1">
                  <c:v>16.0</c:v>
                </c:pt>
                <c:pt idx="2">
                  <c:v>17.0</c:v>
                </c:pt>
                <c:pt idx="3">
                  <c:v>18.0</c:v>
                </c:pt>
                <c:pt idx="4">
                  <c:v>19.0</c:v>
                </c:pt>
                <c:pt idx="5">
                  <c:v>20.0</c:v>
                </c:pt>
                <c:pt idx="6">
                  <c:v>21.0</c:v>
                </c:pt>
                <c:pt idx="7">
                  <c:v>22.0</c:v>
                </c:pt>
                <c:pt idx="8">
                  <c:v>23.0</c:v>
                </c:pt>
                <c:pt idx="9">
                  <c:v>24.0</c:v>
                </c:pt>
                <c:pt idx="10">
                  <c:v>25.0</c:v>
                </c:pt>
                <c:pt idx="11">
                  <c:v>26.0</c:v>
                </c:pt>
                <c:pt idx="12">
                  <c:v>27.0</c:v>
                </c:pt>
                <c:pt idx="13">
                  <c:v>28.0</c:v>
                </c:pt>
                <c:pt idx="14">
                  <c:v>29.0</c:v>
                </c:pt>
                <c:pt idx="15">
                  <c:v>30.0</c:v>
                </c:pt>
                <c:pt idx="16">
                  <c:v>31.0</c:v>
                </c:pt>
                <c:pt idx="17">
                  <c:v>32.0</c:v>
                </c:pt>
                <c:pt idx="18">
                  <c:v>33.0</c:v>
                </c:pt>
                <c:pt idx="19">
                  <c:v>34.0</c:v>
                </c:pt>
                <c:pt idx="20">
                  <c:v>35.0</c:v>
                </c:pt>
                <c:pt idx="21">
                  <c:v>36.0</c:v>
                </c:pt>
                <c:pt idx="22">
                  <c:v>37.0</c:v>
                </c:pt>
                <c:pt idx="23">
                  <c:v>38.0</c:v>
                </c:pt>
                <c:pt idx="24">
                  <c:v>39.0</c:v>
                </c:pt>
                <c:pt idx="25">
                  <c:v>40.0</c:v>
                </c:pt>
              </c:numCache>
            </c:numRef>
          </c:cat>
          <c:val>
            <c:numRef>
              <c:f>'Chart Data'!$B$2:$B$27</c:f>
              <c:numCache>
                <c:formatCode>General</c:formatCode>
                <c:ptCount val="26"/>
                <c:pt idx="0">
                  <c:v>1.0</c:v>
                </c:pt>
                <c:pt idx="1">
                  <c:v>0.916667</c:v>
                </c:pt>
                <c:pt idx="2">
                  <c:v>0.833333</c:v>
                </c:pt>
                <c:pt idx="3">
                  <c:v>0.75</c:v>
                </c:pt>
                <c:pt idx="4">
                  <c:v>0.666667</c:v>
                </c:pt>
                <c:pt idx="5">
                  <c:v>0.583333</c:v>
                </c:pt>
                <c:pt idx="6">
                  <c:v>0.5</c:v>
                </c:pt>
                <c:pt idx="7">
                  <c:v>0.416667</c:v>
                </c:pt>
                <c:pt idx="8">
                  <c:v>0.333333</c:v>
                </c:pt>
                <c:pt idx="9">
                  <c:v>0.25</c:v>
                </c:pt>
                <c:pt idx="10">
                  <c:v>0.166667</c:v>
                </c:pt>
                <c:pt idx="11">
                  <c:v>0.083333</c:v>
                </c:pt>
                <c:pt idx="12">
                  <c:v>0.0</c:v>
                </c:pt>
                <c:pt idx="13">
                  <c:v>0.0</c:v>
                </c:pt>
                <c:pt idx="14">
                  <c:v>0.0</c:v>
                </c:pt>
                <c:pt idx="15">
                  <c:v>0.0</c:v>
                </c:pt>
                <c:pt idx="16">
                  <c:v>0.0</c:v>
                </c:pt>
                <c:pt idx="17">
                  <c:v>0.0</c:v>
                </c:pt>
                <c:pt idx="18">
                  <c:v>0.0</c:v>
                </c:pt>
                <c:pt idx="19">
                  <c:v>0.0</c:v>
                </c:pt>
                <c:pt idx="20">
                  <c:v>0.0</c:v>
                </c:pt>
                <c:pt idx="21">
                  <c:v>0.0</c:v>
                </c:pt>
                <c:pt idx="22">
                  <c:v>0.0</c:v>
                </c:pt>
                <c:pt idx="23">
                  <c:v>0.0</c:v>
                </c:pt>
                <c:pt idx="24">
                  <c:v>0.0</c:v>
                </c:pt>
                <c:pt idx="25">
                  <c:v>0.0</c:v>
                </c:pt>
              </c:numCache>
            </c:numRef>
          </c:val>
        </c:ser>
        <c:ser>
          <c:idx val="1"/>
          <c:order val="1"/>
          <c:tx>
            <c:v>Medium</c:v>
          </c:tx>
          <c:spPr>
            <ns1:solidFill>
              <ns1:srgbClr val="D77732"/>
            </ns1:solidFill>
          </c:spPr>
          <c:marker>
            <c:symbol val="none"/>
          </c:marker>
          <c:cat>
            <c:numRef>
              <c:f>'Chart Data'!$C$2:$C$27</c:f>
              <c:numCache>
                <c:formatCode>General</c:formatCode>
                <c:ptCount val="26"/>
                <c:pt idx="0">
                  <c:v>15.0</c:v>
                </c:pt>
                <c:pt idx="1">
                  <c:v>16.0</c:v>
                </c:pt>
                <c:pt idx="2">
                  <c:v>17.0</c:v>
                </c:pt>
                <c:pt idx="3">
                  <c:v>18.0</c:v>
                </c:pt>
                <c:pt idx="4">
                  <c:v>19.0</c:v>
                </c:pt>
                <c:pt idx="5">
                  <c:v>20.0</c:v>
                </c:pt>
                <c:pt idx="6">
                  <c:v>21.0</c:v>
                </c:pt>
                <c:pt idx="7">
                  <c:v>22.0</c:v>
                </c:pt>
                <c:pt idx="8">
                  <c:v>23.0</c:v>
                </c:pt>
                <c:pt idx="9">
                  <c:v>24.0</c:v>
                </c:pt>
                <c:pt idx="10">
                  <c:v>25.0</c:v>
                </c:pt>
                <c:pt idx="11">
                  <c:v>26.0</c:v>
                </c:pt>
                <c:pt idx="12">
                  <c:v>27.0</c:v>
                </c:pt>
                <c:pt idx="13">
                  <c:v>28.0</c:v>
                </c:pt>
                <c:pt idx="14">
                  <c:v>29.0</c:v>
                </c:pt>
                <c:pt idx="15">
                  <c:v>30.0</c:v>
                </c:pt>
                <c:pt idx="16">
                  <c:v>31.0</c:v>
                </c:pt>
                <c:pt idx="17">
                  <c:v>32.0</c:v>
                </c:pt>
                <c:pt idx="18">
                  <c:v>33.0</c:v>
                </c:pt>
                <c:pt idx="19">
                  <c:v>34.0</c:v>
                </c:pt>
                <c:pt idx="20">
                  <c:v>35.0</c:v>
                </c:pt>
                <c:pt idx="21">
                  <c:v>36.0</c:v>
                </c:pt>
                <c:pt idx="22">
                  <c:v>37.0</c:v>
                </c:pt>
                <c:pt idx="23">
                  <c:v>38.0</c:v>
                </c:pt>
                <c:pt idx="24">
                  <c:v>39.0</c:v>
                </c:pt>
                <c:pt idx="25">
                  <c:v>40.0</c:v>
                </c:pt>
              </c:numCache>
            </c:numRef>
          </c:cat>
          <c:val>
            <c:numRef>
              <c:f>'Chart Data'!$D$2:$D$27</c:f>
              <c:numCache>
                <c:formatCode>General</c:formatCode>
                <c:ptCount val="26"/>
                <c:pt idx="0">
                  <c:v>0.0</c:v>
                </c:pt>
                <c:pt idx="1">
                  <c:v>0.0</c:v>
                </c:pt>
                <c:pt idx="2">
                  <c:v>0.0</c:v>
                </c:pt>
                <c:pt idx="3">
                  <c:v>0.0</c:v>
                </c:pt>
                <c:pt idx="4">
                  <c:v>0.0</c:v>
                </c:pt>
                <c:pt idx="5">
                  <c:v>0.0</c:v>
                </c:pt>
                <c:pt idx="6">
                  <c:v>0.125</c:v>
                </c:pt>
                <c:pt idx="7">
                  <c:v>0.25</c:v>
                </c:pt>
                <c:pt idx="8">
                  <c:v>0.375</c:v>
                </c:pt>
                <c:pt idx="9">
                  <c:v>0.5</c:v>
                </c:pt>
                <c:pt idx="10">
                  <c:v>0.625</c:v>
                </c:pt>
                <c:pt idx="11">
                  <c:v>0.75</c:v>
                </c:pt>
                <c:pt idx="12">
                  <c:v>0.875</c:v>
                </c:pt>
                <c:pt idx="13">
                  <c:v>1.0</c:v>
                </c:pt>
                <c:pt idx="14">
                  <c:v>0.875</c:v>
                </c:pt>
                <c:pt idx="15">
                  <c:v>0.75</c:v>
                </c:pt>
                <c:pt idx="16">
                  <c:v>0.625</c:v>
                </c:pt>
                <c:pt idx="17">
                  <c:v>0.5</c:v>
                </c:pt>
                <c:pt idx="18">
                  <c:v>0.375</c:v>
                </c:pt>
                <c:pt idx="19">
                  <c:v>0.25</c:v>
                </c:pt>
                <c:pt idx="20">
                  <c:v>0.125</c:v>
                </c:pt>
                <c:pt idx="21">
                  <c:v>0.0</c:v>
                </c:pt>
                <c:pt idx="22">
                  <c:v>0.0</c:v>
                </c:pt>
                <c:pt idx="23">
                  <c:v>0.0</c:v>
                </c:pt>
                <c:pt idx="24">
                  <c:v>0.0</c:v>
                </c:pt>
                <c:pt idx="25">
                  <c:v>0.0</c:v>
                </c:pt>
              </c:numCache>
            </c:numRef>
          </c:val>
        </c:ser>
        <c:ser>
          <c:idx val="2"/>
          <c:order val="2"/>
          <c:tx>
            <c:v>High</c:v>
          </c:tx>
          <c:spPr>
            <ns1:solidFill>
              <ns1:srgbClr val="694BB6"/>
            </ns1:solidFill>
          </c:spPr>
          <c:marker>
            <c:symbol val="none"/>
          </c:marker>
          <c:cat>
            <c:numRef>
              <c:f>'Chart Data'!$E$2:$E$27</c:f>
              <c:numCache>
                <c:formatCode>General</c:formatCode>
                <c:ptCount val="26"/>
                <c:pt idx="0">
                  <c:v>15.0</c:v>
                </c:pt>
                <c:pt idx="1">
                  <c:v>16.0</c:v>
                </c:pt>
                <c:pt idx="2">
                  <c:v>17.0</c:v>
                </c:pt>
                <c:pt idx="3">
                  <c:v>18.0</c:v>
                </c:pt>
                <c:pt idx="4">
                  <c:v>19.0</c:v>
                </c:pt>
                <c:pt idx="5">
                  <c:v>20.0</c:v>
                </c:pt>
                <c:pt idx="6">
                  <c:v>21.0</c:v>
                </c:pt>
                <c:pt idx="7">
                  <c:v>22.0</c:v>
                </c:pt>
                <c:pt idx="8">
                  <c:v>23.0</c:v>
                </c:pt>
                <c:pt idx="9">
                  <c:v>24.0</c:v>
                </c:pt>
                <c:pt idx="10">
                  <c:v>25.0</c:v>
                </c:pt>
                <c:pt idx="11">
                  <c:v>26.0</c:v>
                </c:pt>
                <c:pt idx="12">
                  <c:v>27.0</c:v>
                </c:pt>
                <c:pt idx="13">
                  <c:v>28.0</c:v>
                </c:pt>
                <c:pt idx="14">
                  <c:v>29.0</c:v>
                </c:pt>
                <c:pt idx="15">
                  <c:v>30.0</c:v>
                </c:pt>
                <c:pt idx="16">
                  <c:v>31.0</c:v>
                </c:pt>
                <c:pt idx="17">
                  <c:v>32.0</c:v>
                </c:pt>
                <c:pt idx="18">
                  <c:v>33.0</c:v>
                </c:pt>
                <c:pt idx="19">
                  <c:v>34.0</c:v>
                </c:pt>
                <c:pt idx="20">
                  <c:v>35.0</c:v>
                </c:pt>
                <c:pt idx="21">
                  <c:v>36.0</c:v>
                </c:pt>
                <c:pt idx="22">
                  <c:v>37.0</c:v>
                </c:pt>
                <c:pt idx="23">
                  <c:v>38.0</c:v>
                </c:pt>
                <c:pt idx="24">
                  <c:v>39.0</c:v>
                </c:pt>
                <c:pt idx="25">
                  <c:v>40.0</c:v>
                </c:pt>
              </c:numCache>
            </c:numRef>
          </c:cat>
          <c:val>
            <c:numRef>
              <c:f>'Chart Data'!$F$2:$F$27</c:f>
              <c:numCache>
                <c:formatCode>General</c:formatCode>
                <c:ptCount val="26"/>
                <c:pt idx="0">
                  <c:v>0.0</c:v>
                </c:pt>
                <c:pt idx="1">
                  <c:v>0.0</c:v>
                </c:pt>
                <c:pt idx="2">
                  <c:v>0.0</c:v>
                </c:pt>
                <c:pt idx="3">
                  <c:v>0.0</c:v>
                </c:pt>
                <c:pt idx="4">
                  <c:v>0.0</c:v>
                </c:pt>
                <c:pt idx="5">
                  <c:v>0.0</c:v>
                </c:pt>
                <c:pt idx="6">
                  <c:v>0.0</c:v>
                </c:pt>
                <c:pt idx="7">
                  <c:v>0.0</c:v>
                </c:pt>
                <c:pt idx="8">
                  <c:v>0.0</c:v>
                </c:pt>
                <c:pt idx="9">
                  <c:v>0.0</c:v>
                </c:pt>
                <c:pt idx="10">
                  <c:v>0.0</c:v>
                </c:pt>
                <c:pt idx="11">
                  <c:v>0.0</c:v>
                </c:pt>
                <c:pt idx="12">
                  <c:v>0.0</c:v>
                </c:pt>
                <c:pt idx="13">
                  <c:v>0.0</c:v>
                </c:pt>
                <c:pt idx="14">
                  <c:v>0.0</c:v>
                </c:pt>
                <c:pt idx="15">
                  <c:v>0.090909</c:v>
                </c:pt>
                <c:pt idx="16">
                  <c:v>0.181818</c:v>
                </c:pt>
                <c:pt idx="17">
                  <c:v>0.272727</c:v>
                </c:pt>
                <c:pt idx="18">
                  <c:v>0.363636</c:v>
                </c:pt>
                <c:pt idx="19">
                  <c:v>0.454545</c:v>
                </c:pt>
                <c:pt idx="20">
                  <c:v>0.545455</c:v>
                </c:pt>
                <c:pt idx="21">
                  <c:v>0.636364</c:v>
                </c:pt>
                <c:pt idx="22">
                  <c:v>0.727273</c:v>
                </c:pt>
                <c:pt idx="23">
                  <c:v>0.818182</c:v>
                </c:pt>
                <c:pt idx="24">
                  <c:v>0.909091</c:v>
                </c:pt>
                <c:pt idx="25">
                  <c:v>1.0</c:v>
                </c:pt>
              </c:numCache>
            </c:numRef>
          </c:val>
        </c:ser>
        <c:axId val="48650112"/>
        <c:axId val="48672768"/>
      </c:lineChart>
      <c:catAx>
        <c:axId val="48650112"/>
        <c:scaling>
          <c:orientation val="minMax"/>
        </c:scaling>
        <c:delete val="0"/>
        <c:axPos val="b"/>
        <c:numFmt formatCode="General"/>
        <c:majorTickMark val="none"/>
        <c:minorTickMark val="none"/>
        <c:spPr>
          <ns1:ln w="9525">
            <ns1:solidFill>
              <ns1:srgbClr val="D4D4D4"/>
            </ns1:solidFill>
            <ns1:prstDash val="solid"/>
          </ns1:ln>
        </c:spPr>
        <c:txPr>
          <ns1:bodyPr anchorCtr="1"/>
          <ns1:lstStyle/>
          <ns1:p>
            <ns1:pPr>
              <ns1:defRPr>
                <ns1:solidFill>
                  <ns1:srgbClr val="666666"/>
                </ns1:solidFill>
              </ns1:defRPr>
            </ns1:pPr>
          </ns1:p>
        </c:txPr>
        <c:crossAx val="48672768"/>
      </c:catAx>
      <c:valAx>
        <c:axId val="48672768"/>
        <c:scaling>
          <c:orientation val="minMax"/>
        </c:scaling>
        <c:delete val="0"/>
        <c:axPos val="l"/>
        <c:title>
          <c:tx>
            <c:rich>
              <ns1:bodyPr/>
              <ns1:lstStyle/>
              <ns1:p>
                <ns1:r>
                  <ns1:t>Membership</ns1:t>
                </ns1:r>
              </ns1:p>
            </c:rich>
          </c:tx>
          <c:overlay val="0"/>
        </c:title>
        <c:numFmt formatCode="General"/>
        <c:majorTickMark val="none"/>
        <c:minorTickMark val="none"/>
        <c:spPr>
          <ns1:ln w="9525">
            <ns1:solidFill>
              <ns1:srgbClr val="D4D4D4"/>
            </ns1:solidFill>
            <ns1:prstDash val="solid"/>
          </ns1:ln>
        </c:spPr>
        <c:txPr>
          <ns1:bodyPr anchorCtr="1"/>
          <ns1:lstStyle/>
          <ns1:p>
            <ns1:pPr>
              <ns1:defRPr>
                <ns1:solidFill>
                  <ns1:srgbClr val="666666"/>
                </ns1:solidFill>
              </ns1:defRPr>
            </ns1:pPr>
          </ns1:p>
        </c:txPr>
        <c:crossAx val="48650112"/>
        <c:crossBetween val="between"/>
      </c:valAx>
    </c:plotArea>
    <c:legend>
      <c:legendPos val="b"/>
      <c:overlay val="0"/>
    </c:legend>
    <c:plotVisOnly val="1"/>
  </c:chart>
  <c:externalData r:id="rIdChartSnapshot1">
    <c:autoUpdate val="0"/>
  </c:externalData>
</c:chartSpace>
</file>

<file path=ppt/slides/charts/chart2.xml><?xml version="1.0" encoding="utf-8"?>
<c:chartSpace xmlns:c="http://schemas.openxmlformats.org/drawingml/2006/chart" xmlns:ns1="http://schemas.openxmlformats.org/drawingml/2006/main" xmlns:r="http://schemas.openxmlformats.org/officeDocument/2006/relationships">
  <c:lang val="en-US"/>
  <c:chart>
    <c:plotArea>
      <c:lineChart>
        <c:grouping val="standard"/>
        <c:varyColors val="0"/>
        <c:ser>
          <c:idx val="0"/>
          <c:order val="0"/>
          <c:tx>
            <c:v>30% RH</c:v>
          </c:tx>
          <c:spPr>
            <ns1:solidFill>
              <ns1:srgbClr val="087F8C"/>
            </ns1:solidFill>
          </c:spPr>
          <c:marker>
            <c:symbol val="none"/>
          </c:marker>
          <c:cat>
            <c:numRef>
              <c:f>'Chart Data'!$A$2:$A$27</c:f>
              <c:numCache>
                <c:formatCode>General</c:formatCode>
                <c:ptCount val="26"/>
                <c:pt idx="0">
                  <c:v>15.0</c:v>
                </c:pt>
                <c:pt idx="1">
                  <c:v>16.0</c:v>
                </c:pt>
                <c:pt idx="2">
                  <c:v>17.0</c:v>
                </c:pt>
                <c:pt idx="3">
                  <c:v>18.0</c:v>
                </c:pt>
                <c:pt idx="4">
                  <c:v>19.0</c:v>
                </c:pt>
                <c:pt idx="5">
                  <c:v>20.0</c:v>
                </c:pt>
                <c:pt idx="6">
                  <c:v>21.0</c:v>
                </c:pt>
                <c:pt idx="7">
                  <c:v>22.0</c:v>
                </c:pt>
                <c:pt idx="8">
                  <c:v>23.0</c:v>
                </c:pt>
                <c:pt idx="9">
                  <c:v>24.0</c:v>
                </c:pt>
                <c:pt idx="10">
                  <c:v>25.0</c:v>
                </c:pt>
                <c:pt idx="11">
                  <c:v>26.0</c:v>
                </c:pt>
                <c:pt idx="12">
                  <c:v>27.0</c:v>
                </c:pt>
                <c:pt idx="13">
                  <c:v>28.0</c:v>
                </c:pt>
                <c:pt idx="14">
                  <c:v>29.0</c:v>
                </c:pt>
                <c:pt idx="15">
                  <c:v>30.0</c:v>
                </c:pt>
                <c:pt idx="16">
                  <c:v>31.0</c:v>
                </c:pt>
                <c:pt idx="17">
                  <c:v>32.0</c:v>
                </c:pt>
                <c:pt idx="18">
                  <c:v>33.0</c:v>
                </c:pt>
                <c:pt idx="19">
                  <c:v>34.0</c:v>
                </c:pt>
                <c:pt idx="20">
                  <c:v>35.0</c:v>
                </c:pt>
                <c:pt idx="21">
                  <c:v>36.0</c:v>
                </c:pt>
                <c:pt idx="22">
                  <c:v>37.0</c:v>
                </c:pt>
                <c:pt idx="23">
                  <c:v>38.0</c:v>
                </c:pt>
                <c:pt idx="24">
                  <c:v>39.0</c:v>
                </c:pt>
                <c:pt idx="25">
                  <c:v>40.0</c:v>
                </c:pt>
              </c:numCache>
            </c:numRef>
          </c:cat>
          <c:val>
            <c:numRef>
              <c:f>'Chart Data'!$B$2:$B$27</c:f>
              <c:numCache>
                <c:formatCode>General</c:formatCode>
                <c:ptCount val="26"/>
                <c:pt idx="0">
                  <c:v>17.724818</c:v>
                </c:pt>
                <c:pt idx="1">
                  <c:v>17.724818</c:v>
                </c:pt>
                <c:pt idx="2">
                  <c:v>17.724818</c:v>
                </c:pt>
                <c:pt idx="3">
                  <c:v>17.724818</c:v>
                </c:pt>
                <c:pt idx="4">
                  <c:v>18.055507</c:v>
                </c:pt>
                <c:pt idx="5">
                  <c:v>18.709101</c:v>
                </c:pt>
                <c:pt idx="6">
                  <c:v>19.4444</c:v>
                </c:pt>
                <c:pt idx="7">
                  <c:v>20.248484</c:v>
                </c:pt>
                <c:pt idx="8">
                  <c:v>20.673019</c:v>
                </c:pt>
                <c:pt idx="9">
                  <c:v>19.4444</c:v>
                </c:pt>
                <c:pt idx="10">
                  <c:v>18.371163</c:v>
                </c:pt>
                <c:pt idx="11">
                  <c:v>17.724818</c:v>
                </c:pt>
                <c:pt idx="12">
                  <c:v>17.724818</c:v>
                </c:pt>
                <c:pt idx="13">
                  <c:v>17.724818</c:v>
                </c:pt>
                <c:pt idx="14">
                  <c:v>17.724818</c:v>
                </c:pt>
                <c:pt idx="15">
                  <c:v>27.006069</c:v>
                </c:pt>
                <c:pt idx="16">
                  <c:v>34.713455</c:v>
                </c:pt>
                <c:pt idx="17">
                  <c:v>42.122978</c:v>
                </c:pt>
                <c:pt idx="18">
                  <c:v>49.592606</c:v>
                </c:pt>
                <c:pt idx="19">
                  <c:v>57.826854</c:v>
                </c:pt>
                <c:pt idx="20">
                  <c:v>67.854878</c:v>
                </c:pt>
                <c:pt idx="21">
                  <c:v>81.717221</c:v>
                </c:pt>
                <c:pt idx="22">
                  <c:v>82.275182</c:v>
                </c:pt>
                <c:pt idx="23">
                  <c:v>82.275182</c:v>
                </c:pt>
                <c:pt idx="24">
                  <c:v>82.275182</c:v>
                </c:pt>
                <c:pt idx="25">
                  <c:v>82.275182</c:v>
                </c:pt>
              </c:numCache>
            </c:numRef>
          </c:val>
        </c:ser>
        <c:ser>
          <c:idx val="1"/>
          <c:order val="1"/>
          <c:tx>
            <c:v>60% RH</c:v>
          </c:tx>
          <c:spPr>
            <ns1:solidFill>
              <ns1:srgbClr val="D77732"/>
            </ns1:solidFill>
          </c:spPr>
          <c:marker>
            <c:symbol val="none"/>
          </c:marker>
          <c:cat>
            <c:numRef>
              <c:f>'Chart Data'!$C$2:$C$27</c:f>
              <c:numCache>
                <c:formatCode>General</c:formatCode>
                <c:ptCount val="26"/>
                <c:pt idx="0">
                  <c:v>15.0</c:v>
                </c:pt>
                <c:pt idx="1">
                  <c:v>16.0</c:v>
                </c:pt>
                <c:pt idx="2">
                  <c:v>17.0</c:v>
                </c:pt>
                <c:pt idx="3">
                  <c:v>18.0</c:v>
                </c:pt>
                <c:pt idx="4">
                  <c:v>19.0</c:v>
                </c:pt>
                <c:pt idx="5">
                  <c:v>20.0</c:v>
                </c:pt>
                <c:pt idx="6">
                  <c:v>21.0</c:v>
                </c:pt>
                <c:pt idx="7">
                  <c:v>22.0</c:v>
                </c:pt>
                <c:pt idx="8">
                  <c:v>23.0</c:v>
                </c:pt>
                <c:pt idx="9">
                  <c:v>24.0</c:v>
                </c:pt>
                <c:pt idx="10">
                  <c:v>25.0</c:v>
                </c:pt>
                <c:pt idx="11">
                  <c:v>26.0</c:v>
                </c:pt>
                <c:pt idx="12">
                  <c:v>27.0</c:v>
                </c:pt>
                <c:pt idx="13">
                  <c:v>28.0</c:v>
                </c:pt>
                <c:pt idx="14">
                  <c:v>29.0</c:v>
                </c:pt>
                <c:pt idx="15">
                  <c:v>30.0</c:v>
                </c:pt>
                <c:pt idx="16">
                  <c:v>31.0</c:v>
                </c:pt>
                <c:pt idx="17">
                  <c:v>32.0</c:v>
                </c:pt>
                <c:pt idx="18">
                  <c:v>33.0</c:v>
                </c:pt>
                <c:pt idx="19">
                  <c:v>34.0</c:v>
                </c:pt>
                <c:pt idx="20">
                  <c:v>35.0</c:v>
                </c:pt>
                <c:pt idx="21">
                  <c:v>36.0</c:v>
                </c:pt>
                <c:pt idx="22">
                  <c:v>37.0</c:v>
                </c:pt>
                <c:pt idx="23">
                  <c:v>38.0</c:v>
                </c:pt>
                <c:pt idx="24">
                  <c:v>39.0</c:v>
                </c:pt>
                <c:pt idx="25">
                  <c:v>40.0</c:v>
                </c:pt>
              </c:numCache>
            </c:numRef>
          </c:cat>
          <c:val>
            <c:numRef>
              <c:f>'Chart Data'!$D$2:$D$27</c:f>
              <c:numCache>
                <c:formatCode>General</c:formatCode>
                <c:ptCount val="26"/>
                <c:pt idx="0">
                  <c:v>16.6666</c:v>
                </c:pt>
                <c:pt idx="1">
                  <c:v>16.773454</c:v>
                </c:pt>
                <c:pt idx="2">
                  <c:v>17.063443</c:v>
                </c:pt>
                <c:pt idx="3">
                  <c:v>17.499947</c:v>
                </c:pt>
                <c:pt idx="4">
                  <c:v>18.055507</c:v>
                </c:pt>
                <c:pt idx="5">
                  <c:v>18.709101</c:v>
                </c:pt>
                <c:pt idx="6">
                  <c:v>25.56222</c:v>
                </c:pt>
                <c:pt idx="7">
                  <c:v>31.424145</c:v>
                </c:pt>
                <c:pt idx="8">
                  <c:v>36.241477</c:v>
                </c:pt>
                <c:pt idx="9">
                  <c:v>40.214613</c:v>
                </c:pt>
                <c:pt idx="10">
                  <c:v>43.674589</c:v>
                </c:pt>
                <c:pt idx="11">
                  <c:v>46.866722</c:v>
                </c:pt>
                <c:pt idx="12">
                  <c:v>50.0</c:v>
                </c:pt>
                <c:pt idx="13">
                  <c:v>50.0</c:v>
                </c:pt>
                <c:pt idx="14">
                  <c:v>50.0</c:v>
                </c:pt>
                <c:pt idx="15">
                  <c:v>53.398718</c:v>
                </c:pt>
                <c:pt idx="16">
                  <c:v>56.813151</c:v>
                </c:pt>
                <c:pt idx="17">
                  <c:v>60.446597</c:v>
                </c:pt>
                <c:pt idx="18">
                  <c:v>64.517636</c:v>
                </c:pt>
                <c:pt idx="19">
                  <c:v>69.328182</c:v>
                </c:pt>
                <c:pt idx="20">
                  <c:v>75.075884</c:v>
                </c:pt>
                <c:pt idx="21">
                  <c:v>81.717221</c:v>
                </c:pt>
                <c:pt idx="22">
                  <c:v>82.359356</c:v>
                </c:pt>
                <c:pt idx="23">
                  <c:v>82.867187</c:v>
                </c:pt>
                <c:pt idx="24">
                  <c:v>83.20712</c:v>
                </c:pt>
                <c:pt idx="25">
                  <c:v>83.3334</c:v>
                </c:pt>
              </c:numCache>
            </c:numRef>
          </c:val>
        </c:ser>
        <c:ser>
          <c:idx val="2"/>
          <c:order val="2"/>
          <c:tx>
            <c:v>85% RH</c:v>
          </c:tx>
          <c:spPr>
            <ns1:solidFill>
              <ns1:srgbClr val="694BB6"/>
            </ns1:solidFill>
          </c:spPr>
          <c:marker>
            <c:symbol val="none"/>
          </c:marker>
          <c:cat>
            <c:numRef>
              <c:f>'Chart Data'!$E$2:$E$27</c:f>
              <c:numCache>
                <c:formatCode>General</c:formatCode>
                <c:ptCount val="26"/>
                <c:pt idx="0">
                  <c:v>15.0</c:v>
                </c:pt>
                <c:pt idx="1">
                  <c:v>16.0</c:v>
                </c:pt>
                <c:pt idx="2">
                  <c:v>17.0</c:v>
                </c:pt>
                <c:pt idx="3">
                  <c:v>18.0</c:v>
                </c:pt>
                <c:pt idx="4">
                  <c:v>19.0</c:v>
                </c:pt>
                <c:pt idx="5">
                  <c:v>20.0</c:v>
                </c:pt>
                <c:pt idx="6">
                  <c:v>21.0</c:v>
                </c:pt>
                <c:pt idx="7">
                  <c:v>22.0</c:v>
                </c:pt>
                <c:pt idx="8">
                  <c:v>23.0</c:v>
                </c:pt>
                <c:pt idx="9">
                  <c:v>24.0</c:v>
                </c:pt>
                <c:pt idx="10">
                  <c:v>25.0</c:v>
                </c:pt>
                <c:pt idx="11">
                  <c:v>26.0</c:v>
                </c:pt>
                <c:pt idx="12">
                  <c:v>27.0</c:v>
                </c:pt>
                <c:pt idx="13">
                  <c:v>28.0</c:v>
                </c:pt>
                <c:pt idx="14">
                  <c:v>29.0</c:v>
                </c:pt>
                <c:pt idx="15">
                  <c:v>30.0</c:v>
                </c:pt>
                <c:pt idx="16">
                  <c:v>31.0</c:v>
                </c:pt>
                <c:pt idx="17">
                  <c:v>32.0</c:v>
                </c:pt>
                <c:pt idx="18">
                  <c:v>33.0</c:v>
                </c:pt>
                <c:pt idx="19">
                  <c:v>34.0</c:v>
                </c:pt>
                <c:pt idx="20">
                  <c:v>35.0</c:v>
                </c:pt>
                <c:pt idx="21">
                  <c:v>36.0</c:v>
                </c:pt>
                <c:pt idx="22">
                  <c:v>37.0</c:v>
                </c:pt>
                <c:pt idx="23">
                  <c:v>38.0</c:v>
                </c:pt>
                <c:pt idx="24">
                  <c:v>39.0</c:v>
                </c:pt>
                <c:pt idx="25">
                  <c:v>40.0</c:v>
                </c:pt>
              </c:numCache>
            </c:numRef>
          </c:cat>
          <c:val>
            <c:numRef>
              <c:f>'Chart Data'!$F$2:$F$27</c:f>
              <c:numCache>
                <c:formatCode>General</c:formatCode>
                <c:ptCount val="26"/>
                <c:pt idx="0">
                  <c:v>50.0</c:v>
                </c:pt>
                <c:pt idx="1">
                  <c:v>50.0</c:v>
                </c:pt>
                <c:pt idx="2">
                  <c:v>50.0</c:v>
                </c:pt>
                <c:pt idx="3">
                  <c:v>50.0</c:v>
                </c:pt>
                <c:pt idx="4">
                  <c:v>50.0</c:v>
                </c:pt>
                <c:pt idx="5">
                  <c:v>50.0</c:v>
                </c:pt>
                <c:pt idx="6">
                  <c:v>55.521792</c:v>
                </c:pt>
                <c:pt idx="7">
                  <c:v>60.72423</c:v>
                </c:pt>
                <c:pt idx="8">
                  <c:v>65.583414</c:v>
                </c:pt>
                <c:pt idx="9">
                  <c:v>70.138997</c:v>
                </c:pt>
                <c:pt idx="10">
                  <c:v>74.523609</c:v>
                </c:pt>
                <c:pt idx="11">
                  <c:v>78.820705</c:v>
                </c:pt>
                <c:pt idx="12">
                  <c:v>82.777833</c:v>
                </c:pt>
                <c:pt idx="13">
                  <c:v>82.777833</c:v>
                </c:pt>
                <c:pt idx="14">
                  <c:v>82.777833</c:v>
                </c:pt>
                <c:pt idx="15">
                  <c:v>82.500053</c:v>
                </c:pt>
                <c:pt idx="16">
                  <c:v>81.628837</c:v>
                </c:pt>
                <c:pt idx="17">
                  <c:v>80.5556</c:v>
                </c:pt>
                <c:pt idx="18">
                  <c:v>79.326981</c:v>
                </c:pt>
                <c:pt idx="19">
                  <c:v>80.124829</c:v>
                </c:pt>
                <c:pt idx="20">
                  <c:v>80.965959</c:v>
                </c:pt>
                <c:pt idx="21">
                  <c:v>81.717221</c:v>
                </c:pt>
                <c:pt idx="22">
                  <c:v>82.359356</c:v>
                </c:pt>
                <c:pt idx="23">
                  <c:v>82.777833</c:v>
                </c:pt>
                <c:pt idx="24">
                  <c:v>82.777833</c:v>
                </c:pt>
                <c:pt idx="25">
                  <c:v>82.777833</c:v>
                </c:pt>
              </c:numCache>
            </c:numRef>
          </c:val>
        </c:ser>
        <c:axId val="48650112"/>
        <c:axId val="48672768"/>
      </c:lineChart>
      <c:catAx>
        <c:axId val="48650112"/>
        <c:scaling>
          <c:orientation val="minMax"/>
        </c:scaling>
        <c:delete val="0"/>
        <c:axPos val="b"/>
        <c:numFmt formatCode="General"/>
        <c:majorTickMark val="none"/>
        <c:minorTickMark val="none"/>
        <c:spPr>
          <ns1:ln w="9525">
            <ns1:solidFill>
              <ns1:srgbClr val="D4D4D4"/>
            </ns1:solidFill>
            <ns1:prstDash val="solid"/>
          </ns1:ln>
        </c:spPr>
        <c:txPr>
          <ns1:bodyPr anchorCtr="1"/>
          <ns1:lstStyle/>
          <ns1:p>
            <ns1:pPr>
              <ns1:defRPr>
                <ns1:solidFill>
                  <ns1:srgbClr val="666666"/>
                </ns1:solidFill>
              </ns1:defRPr>
            </ns1:pPr>
          </ns1:p>
        </c:txPr>
        <c:crossAx val="48672768"/>
      </c:catAx>
      <c:valAx>
        <c:axId val="48672768"/>
        <c:scaling>
          <c:orientation val="minMax"/>
        </c:scaling>
        <c:delete val="0"/>
        <c:axPos val="l"/>
        <c:title>
          <c:tx>
            <c:rich>
              <ns1:bodyPr/>
              <ns1:lstStyle/>
              <ns1:p>
                <ns1:r>
                  <ns1:t>Command (%)</ns1:t>
                </ns1:r>
              </ns1:p>
            </c:rich>
          </c:tx>
          <c:overlay val="0"/>
        </c:title>
        <c:numFmt formatCode="General"/>
        <c:majorTickMark val="none"/>
        <c:minorTickMark val="none"/>
        <c:spPr>
          <ns1:ln w="9525">
            <ns1:solidFill>
              <ns1:srgbClr val="D4D4D4"/>
            </ns1:solidFill>
            <ns1:prstDash val="solid"/>
          </ns1:ln>
        </c:spPr>
        <c:txPr>
          <ns1:bodyPr anchorCtr="1"/>
          <ns1:lstStyle/>
          <ns1:p>
            <ns1:pPr>
              <ns1:defRPr>
                <ns1:solidFill>
                  <ns1:srgbClr val="666666"/>
                </ns1:solidFill>
              </ns1:defRPr>
            </ns1:pPr>
          </ns1:p>
        </c:txPr>
        <c:crossAx val="48650112"/>
        <c:crossBetween val="between"/>
      </c:valAx>
    </c:plotArea>
    <c:legend>
      <c:legendPos val="b"/>
      <c:overlay val="0"/>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992E52A-845E-4AE3-A456-5B4B524E423B}"/>
              </a:ext>
            </a:extLst>
          </p:cNvPr>
          <p:cNvSpPr>
            <a:spLocks xmlns:a="http://schemas.openxmlformats.org/drawingml/2006/main" noGrp="1"/>
          </p:cNvSpPr>
          <p:nvPr/>
        </p:nvSpPr>
        <p:spPr>
          <a:xfrm xmlns:a="http://schemas.openxmlformats.org/drawingml/2006/main">
            <a:off x="609600" y="4095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047"/>
                </a:solidFill>
              </a:defRPr>
            </a:defPPr>
          </a:lstStyle>
          <a:p xmlns:a="http://schemas.openxmlformats.org/drawingml/2006/main">
            <a:pPr>
              <a:defRPr sz="3300" b="1">
                <a:solidFill>
                  <a:srgbClr val="123047"/>
                </a:solidFill>
              </a:defRPr>
            </a:pPr>
            <a:r>
              <a:rPr sz="3300" b="1">
                <a:solidFill>
                  <a:srgbClr val="123047"/>
                </a:solidFill>
              </a:rPr>
              <a:t>Smart Fan Speed Controller</a:t>
            </a:r>
          </a:p>
        </p:txBody>
      </p:sp>
      <p:sp>
        <p:nvSpPr>
          <p:cNvPr id="2" name="">
            <a:extLst xmlns:a="http://schemas.openxmlformats.org/drawingml/2006/main">
              <a:ext uri="{FF2B5EF4-FFF2-40B4-BE49-F238E27FC236}">
                <a16:creationId xmlns:a16="http://schemas.microsoft.com/office/drawing/2014/main" id="{B29CB8E5-3ABF-42E5-8066-1FF55CEAB399}"/>
              </a:ext>
            </a:extLst>
          </p:cNvPr>
          <p:cNvSpPr>
            <a:spLocks xmlns:a="http://schemas.openxmlformats.org/drawingml/2006/main" noGrp="1"/>
          </p:cNvSpPr>
          <p:nvPr/>
        </p:nvSpPr>
        <p:spPr>
          <a:xfrm xmlns:a="http://schemas.openxmlformats.org/drawingml/2006/main">
            <a:off x="10668000" y="63246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87F8C"/>
                </a:solidFill>
              </a:defRPr>
            </a:defPPr>
          </a:lstStyle>
          <a:p xmlns:a="http://schemas.openxmlformats.org/drawingml/2006/main">
            <a:pPr>
              <a:defRPr sz="1200" b="0">
                <a:solidFill>
                  <a:srgbClr val="087F8C"/>
                </a:solidFill>
              </a:defRPr>
            </a:pPr>
            <a:r>
              <a:rPr sz="1200" b="0">
                <a:solidFill>
                  <a:srgbClr val="087F8C"/>
                </a:solidFill>
              </a:rPr>
              <a:t>01  /  12</a:t>
            </a:r>
          </a:p>
        </p:txBody>
      </p:sp>
      <p:sp>
        <p:nvSpPr>
          <p:cNvPr id="3" name="">
            <a:extLst xmlns:a="http://schemas.openxmlformats.org/drawingml/2006/main">
              <a:ext uri="{FF2B5EF4-FFF2-40B4-BE49-F238E27FC236}">
                <a16:creationId xmlns:a16="http://schemas.microsoft.com/office/drawing/2014/main" id="{BD977EBD-FADA-48FD-8DD0-798CE34AAF34}"/>
              </a:ext>
            </a:extLst>
          </p:cNvPr>
          <p:cNvSpPr>
            <a:spLocks xmlns:a="http://schemas.openxmlformats.org/drawingml/2006/main" noGrp="1"/>
          </p:cNvSpPr>
          <p:nvPr/>
        </p:nvSpPr>
        <p:spPr>
          <a:xfrm xmlns:a="http://schemas.openxmlformats.org/drawingml/2006/main">
            <a:off x="666750" y="166687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087F8C"/>
                </a:solidFill>
              </a:defRPr>
            </a:defPPr>
          </a:lstStyle>
          <a:p xmlns:a="http://schemas.openxmlformats.org/drawingml/2006/main">
            <a:pPr>
              <a:defRPr sz="3000" b="1">
                <a:solidFill>
                  <a:srgbClr val="087F8C"/>
                </a:solidFill>
              </a:defRPr>
            </a:pPr>
            <a:r>
              <a:rPr sz="3000" b="1">
                <a:solidFill>
                  <a:srgbClr val="087F8C"/>
                </a:solidFill>
              </a:rPr>
              <a:t>Temperature + humidity</a:t>
            </a:r>
          </a:p>
          <a:p xmlns:a="http://schemas.openxmlformats.org/drawingml/2006/main">
            <a:pPr>
              <a:defRPr sz="3000" b="1">
                <a:solidFill>
                  <a:srgbClr val="087F8C"/>
                </a:solidFill>
              </a:defRPr>
            </a:pPr>
            <a:r>
              <a:rPr sz="3000" b="1">
                <a:solidFill>
                  <a:srgbClr val="087F8C"/>
                </a:solidFill>
              </a:rPr>
              <a:t>Fuzzy Logic and Genetic Programming PBL</a:t>
            </a:r>
          </a:p>
        </p:txBody>
      </p:sp>
      <p:sp>
        <p:nvSpPr>
          <p:cNvPr id="4" name="">
            <a:extLst xmlns:a="http://schemas.openxmlformats.org/drawingml/2006/main">
              <a:ext uri="{FF2B5EF4-FFF2-40B4-BE49-F238E27FC236}">
                <a16:creationId xmlns:a16="http://schemas.microsoft.com/office/drawing/2014/main" id="{F602A386-30D7-4945-BC4B-07CEDA437577}"/>
              </a:ext>
            </a:extLst>
          </p:cNvPr>
          <p:cNvSpPr>
            <a:spLocks xmlns:a="http://schemas.openxmlformats.org/drawingml/2006/main" noGrp="1"/>
          </p:cNvSpPr>
          <p:nvPr/>
        </p:nvSpPr>
        <p:spPr>
          <a:xfrm xmlns:a="http://schemas.openxmlformats.org/drawingml/2006/main">
            <a:off x="666750" y="3286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F50"/>
                </a:solidFill>
              </a:defRPr>
            </a:defPPr>
          </a:lstStyle>
          <a:p xmlns:a="http://schemas.openxmlformats.org/drawingml/2006/main">
            <a:pPr>
              <a:defRPr sz="1950" b="0">
                <a:solidFill>
                  <a:srgbClr val="263F50"/>
                </a:solidFill>
              </a:defRPr>
            </a:pPr>
            <a:r>
              <a:rPr sz="1950" b="0">
                <a:solidFill>
                  <a:srgbClr val="263F50"/>
                </a:solidFill>
              </a:rPr>
              <a:t>L.D. College of Engineering, Ahmedabad</a:t>
            </a:r>
          </a:p>
          <a:p xmlns:a="http://schemas.openxmlformats.org/drawingml/2006/main">
            <a:pPr>
              <a:defRPr sz="1950" b="0">
                <a:solidFill>
                  <a:srgbClr val="263F50"/>
                </a:solidFill>
              </a:defRPr>
            </a:pPr>
            <a:r>
              <a:rPr sz="1950" b="0">
                <a:solidFill>
                  <a:srgbClr val="263F50"/>
                </a:solidFill>
              </a:rPr>
              <a:t>Chemical Engineering, Division A</a:t>
            </a:r>
          </a:p>
        </p:txBody>
      </p:sp>
      <p:sp>
        <p:nvSpPr>
          <p:cNvPr id="5" name="">
            <a:extLst xmlns:a="http://schemas.openxmlformats.org/drawingml/2006/main">
              <a:ext uri="{FF2B5EF4-FFF2-40B4-BE49-F238E27FC236}">
                <a16:creationId xmlns:a16="http://schemas.microsoft.com/office/drawing/2014/main" id="{61874A89-1489-4DF0-AA0C-4ED86927EF14}"/>
              </a:ext>
            </a:extLst>
          </p:cNvPr>
          <p:cNvSpPr>
            <a:spLocks xmlns:a="http://schemas.openxmlformats.org/drawingml/2006/main" noGrp="1"/>
          </p:cNvSpPr>
          <p:nvPr/>
        </p:nvSpPr>
        <p:spPr>
          <a:xfrm xmlns:a="http://schemas.openxmlformats.org/drawingml/2006/main">
            <a:off x="666750" y="42291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F50"/>
                </a:solidFill>
              </a:defRPr>
            </a:defPPr>
          </a:lstStyle>
          <a:p xmlns:a="http://schemas.openxmlformats.org/drawingml/2006/main">
            <a:pPr>
              <a:defRPr sz="1800" b="0">
                <a:solidFill>
                  <a:srgbClr val="263F50"/>
                </a:solidFill>
              </a:defRPr>
            </a:pPr>
            <a:r>
              <a:rPr sz="1800" b="0">
                <a:solidFill>
                  <a:srgbClr val="263F50"/>
                </a:solidFill>
              </a:rPr>
              <a:t>Kirtan Siddhapura  240280105071</a:t>
            </a:r>
          </a:p>
          <a:p xmlns:a="http://schemas.openxmlformats.org/drawingml/2006/main">
            <a:pPr>
              <a:defRPr sz="1800" b="0">
                <a:solidFill>
                  <a:srgbClr val="263F50"/>
                </a:solidFill>
              </a:defRPr>
            </a:pPr>
            <a:r>
              <a:rPr sz="1800" b="0">
                <a:solidFill>
                  <a:srgbClr val="263F50"/>
                </a:solidFill>
              </a:rPr>
              <a:t>Mahesh Bhaliya  240280105005</a:t>
            </a:r>
          </a:p>
          <a:p xmlns:a="http://schemas.openxmlformats.org/drawingml/2006/main">
            <a:pPr>
              <a:defRPr sz="1800" b="0">
                <a:solidFill>
                  <a:srgbClr val="263F50"/>
                </a:solidFill>
              </a:defRPr>
            </a:pPr>
            <a:r>
              <a:rPr sz="1800" b="0">
                <a:solidFill>
                  <a:srgbClr val="263F50"/>
                </a:solidFill>
              </a:rPr>
              <a:t>Manav Chauhan  240280105008</a:t>
            </a:r>
          </a:p>
          <a:p xmlns:a="http://schemas.openxmlformats.org/drawingml/2006/main">
            <a:pPr>
              <a:defRPr sz="1800" b="0">
                <a:solidFill>
                  <a:srgbClr val="263F50"/>
                </a:solidFill>
              </a:defRPr>
            </a:pPr>
            <a:r>
              <a:rPr sz="1800" b="0">
                <a:solidFill>
                  <a:srgbClr val="263F50"/>
                </a:solidFill>
              </a:rPr>
              <a:t>Haresh Raval  240280105065</a:t>
            </a:r>
          </a:p>
        </p:txBody>
      </p:sp>
    </p:spTree>
    <p:extLst>
      <p:ext uri="{BB962C8B-B14F-4D97-AF65-F5344CB8AC3E}">
        <p14:creationId xmlns:p14="http://schemas.microsoft.com/office/powerpoint/2010/main" val="689264677"/>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2E866D-DC19-4435-B15F-73B4793D4C88}"/>
              </a:ext>
            </a:extLst>
          </p:cNvPr>
          <p:cNvSpPr>
            <a:spLocks xmlns:a="http://schemas.openxmlformats.org/drawingml/2006/main" noGrp="1"/>
          </p:cNvSpPr>
          <p:nvPr/>
        </p:nvSpPr>
        <p:spPr>
          <a:xfrm xmlns:a="http://schemas.openxmlformats.org/drawingml/2006/main">
            <a:off x="609600" y="4095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047"/>
                </a:solidFill>
              </a:defRPr>
            </a:defPPr>
          </a:lstStyle>
          <a:p xmlns:a="http://schemas.openxmlformats.org/drawingml/2006/main">
            <a:pPr>
              <a:defRPr sz="3300" b="1">
                <a:solidFill>
                  <a:srgbClr val="123047"/>
                </a:solidFill>
              </a:defRPr>
            </a:pPr>
            <a:r>
              <a:rPr sz="3300" b="1">
                <a:solidFill>
                  <a:srgbClr val="123047"/>
                </a:solidFill>
              </a:rPr>
              <a:t>Problem</a:t>
            </a:r>
          </a:p>
        </p:txBody>
      </p:sp>
      <p:sp>
        <p:nvSpPr>
          <p:cNvPr id="2" name="">
            <a:extLst xmlns:a="http://schemas.openxmlformats.org/drawingml/2006/main">
              <a:ext uri="{FF2B5EF4-FFF2-40B4-BE49-F238E27FC236}">
                <a16:creationId xmlns:a16="http://schemas.microsoft.com/office/drawing/2014/main" id="{84FFC4D0-4106-41A0-997F-0E8A082A545C}"/>
              </a:ext>
            </a:extLst>
          </p:cNvPr>
          <p:cNvSpPr>
            <a:spLocks xmlns:a="http://schemas.openxmlformats.org/drawingml/2006/main" noGrp="1"/>
          </p:cNvSpPr>
          <p:nvPr/>
        </p:nvSpPr>
        <p:spPr>
          <a:xfrm xmlns:a="http://schemas.openxmlformats.org/drawingml/2006/main">
            <a:off x="10668000" y="63246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87F8C"/>
                </a:solidFill>
              </a:defRPr>
            </a:defPPr>
          </a:lstStyle>
          <a:p xmlns:a="http://schemas.openxmlformats.org/drawingml/2006/main">
            <a:pPr>
              <a:defRPr sz="1200" b="0">
                <a:solidFill>
                  <a:srgbClr val="087F8C"/>
                </a:solidFill>
              </a:defRPr>
            </a:pPr>
            <a:r>
              <a:rPr sz="1200" b="0">
                <a:solidFill>
                  <a:srgbClr val="087F8C"/>
                </a:solidFill>
              </a:rPr>
              <a:t>02  /  12</a:t>
            </a:r>
          </a:p>
        </p:txBody>
      </p:sp>
      <p:sp>
        <p:nvSpPr>
          <p:cNvPr id="3" name="">
            <a:extLst xmlns:a="http://schemas.openxmlformats.org/drawingml/2006/main">
              <a:ext uri="{FF2B5EF4-FFF2-40B4-BE49-F238E27FC236}">
                <a16:creationId xmlns:a16="http://schemas.microsoft.com/office/drawing/2014/main" id="{6EFFAEF2-F523-4C3A-BFC9-C23A11BC5DB7}"/>
              </a:ext>
            </a:extLst>
          </p:cNvPr>
          <p:cNvSpPr>
            <a:spLocks xmlns:a="http://schemas.openxmlformats.org/drawingml/2006/main" noGrp="1"/>
          </p:cNvSpPr>
          <p:nvPr/>
        </p:nvSpPr>
        <p:spPr>
          <a:xfrm xmlns:a="http://schemas.openxmlformats.org/drawingml/2006/main">
            <a:off x="666750" y="16192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F50"/>
                </a:solidFill>
              </a:defRPr>
            </a:defPPr>
          </a:lstStyle>
          <a:p xmlns:a="http://schemas.openxmlformats.org/drawingml/2006/main">
            <a:pPr>
              <a:defRPr sz="2175" b="0">
                <a:solidFill>
                  <a:srgbClr val="263F50"/>
                </a:solidFill>
              </a:defRPr>
            </a:pPr>
            <a:r>
              <a:rPr sz="2175" b="0">
                <a:solidFill>
                  <a:srgbClr val="263F50"/>
                </a:solidFill>
              </a:rPr>
              <a:t>Manual speed adjustment depends on the user noticing changing conditions.</a:t>
            </a:r>
          </a:p>
        </p:txBody>
      </p:sp>
      <p:sp>
        <p:nvSpPr>
          <p:cNvPr id="4" name="">
            <a:extLst xmlns:a="http://schemas.openxmlformats.org/drawingml/2006/main">
              <a:ext uri="{FF2B5EF4-FFF2-40B4-BE49-F238E27FC236}">
                <a16:creationId xmlns:a16="http://schemas.microsoft.com/office/drawing/2014/main" id="{8C618AAB-2781-40A4-96E3-8742B2FE415B}"/>
              </a:ext>
            </a:extLst>
          </p:cNvPr>
          <p:cNvSpPr>
            <a:spLocks xmlns:a="http://schemas.openxmlformats.org/drawingml/2006/main" noGrp="1"/>
          </p:cNvSpPr>
          <p:nvPr/>
        </p:nvSpPr>
        <p:spPr>
          <a:xfrm xmlns:a="http://schemas.openxmlformats.org/drawingml/2006/main">
            <a:off x="666750" y="261937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F50"/>
                </a:solidFill>
              </a:defRPr>
            </a:defPPr>
          </a:lstStyle>
          <a:p xmlns:a="http://schemas.openxmlformats.org/drawingml/2006/main">
            <a:pPr>
              <a:defRPr sz="2175" b="0">
                <a:solidFill>
                  <a:srgbClr val="263F50"/>
                </a:solidFill>
              </a:defRPr>
            </a:pPr>
            <a:r>
              <a:rPr sz="2175" b="0">
                <a:solidFill>
                  <a:srgbClr val="263F50"/>
                </a:solidFill>
              </a:rPr>
              <a:t>A temperature-only threshold ignores humidity and can switch abruptly.</a:t>
            </a:r>
          </a:p>
        </p:txBody>
      </p:sp>
      <p:sp>
        <p:nvSpPr>
          <p:cNvPr id="5" name="">
            <a:extLst xmlns:a="http://schemas.openxmlformats.org/drawingml/2006/main">
              <a:ext uri="{FF2B5EF4-FFF2-40B4-BE49-F238E27FC236}">
                <a16:creationId xmlns:a16="http://schemas.microsoft.com/office/drawing/2014/main" id="{0306F1BD-CC57-4EBB-ABBD-6B4B52DD2566}"/>
              </a:ext>
            </a:extLst>
          </p:cNvPr>
          <p:cNvSpPr>
            <a:spLocks xmlns:a="http://schemas.openxmlformats.org/drawingml/2006/main" noGrp="1"/>
          </p:cNvSpPr>
          <p:nvPr/>
        </p:nvSpPr>
        <p:spPr>
          <a:xfrm xmlns:a="http://schemas.openxmlformats.org/drawingml/2006/main">
            <a:off x="666750" y="36195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F50"/>
                </a:solidFill>
              </a:defRPr>
            </a:defPPr>
          </a:lstStyle>
          <a:p xmlns:a="http://schemas.openxmlformats.org/drawingml/2006/main">
            <a:pPr>
              <a:defRPr sz="2175" b="0">
                <a:solidFill>
                  <a:srgbClr val="263F50"/>
                </a:solidFill>
              </a:defRPr>
            </a:pPr>
            <a:r>
              <a:rPr sz="2175" b="0">
                <a:solidFill>
                  <a:srgbClr val="263F50"/>
                </a:solidFill>
              </a:rPr>
              <a:t>Our model requests airflow from both inputs. It does not predict room cooling or moisture removal.</a:t>
            </a:r>
          </a:p>
        </p:txBody>
      </p:sp>
    </p:spTree>
    <p:extLst>
      <p:ext uri="{BB962C8B-B14F-4D97-AF65-F5344CB8AC3E}">
        <p14:creationId xmlns:p14="http://schemas.microsoft.com/office/powerpoint/2010/main" val="715136952"/>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C2C086-00EA-4876-9B19-96603F644D75}"/>
              </a:ext>
            </a:extLst>
          </p:cNvPr>
          <p:cNvSpPr>
            <a:spLocks xmlns:a="http://schemas.openxmlformats.org/drawingml/2006/main" noGrp="1"/>
          </p:cNvSpPr>
          <p:nvPr/>
        </p:nvSpPr>
        <p:spPr>
          <a:xfrm xmlns:a="http://schemas.openxmlformats.org/drawingml/2006/main">
            <a:off x="609600" y="4095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047"/>
                </a:solidFill>
              </a:defRPr>
            </a:defPPr>
          </a:lstStyle>
          <a:p xmlns:a="http://schemas.openxmlformats.org/drawingml/2006/main">
            <a:pPr>
              <a:defRPr sz="3300" b="1">
                <a:solidFill>
                  <a:srgbClr val="123047"/>
                </a:solidFill>
              </a:defRPr>
            </a:pPr>
            <a:r>
              <a:rPr sz="3300" b="1">
                <a:solidFill>
                  <a:srgbClr val="123047"/>
                </a:solidFill>
              </a:rPr>
              <a:t>Objectives</a:t>
            </a:r>
          </a:p>
        </p:txBody>
      </p:sp>
      <p:sp>
        <p:nvSpPr>
          <p:cNvPr id="2" name="">
            <a:extLst xmlns:a="http://schemas.openxmlformats.org/drawingml/2006/main">
              <a:ext uri="{FF2B5EF4-FFF2-40B4-BE49-F238E27FC236}">
                <a16:creationId xmlns:a16="http://schemas.microsoft.com/office/drawing/2014/main" id="{28F8A039-FDCF-4165-9C3F-02C6E073005E}"/>
              </a:ext>
            </a:extLst>
          </p:cNvPr>
          <p:cNvSpPr>
            <a:spLocks xmlns:a="http://schemas.openxmlformats.org/drawingml/2006/main" noGrp="1"/>
          </p:cNvSpPr>
          <p:nvPr/>
        </p:nvSpPr>
        <p:spPr>
          <a:xfrm xmlns:a="http://schemas.openxmlformats.org/drawingml/2006/main">
            <a:off x="10668000" y="63246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87F8C"/>
                </a:solidFill>
              </a:defRPr>
            </a:defPPr>
          </a:lstStyle>
          <a:p xmlns:a="http://schemas.openxmlformats.org/drawingml/2006/main">
            <a:pPr>
              <a:defRPr sz="1200" b="0">
                <a:solidFill>
                  <a:srgbClr val="087F8C"/>
                </a:solidFill>
              </a:defRPr>
            </a:pPr>
            <a:r>
              <a:rPr sz="1200" b="0">
                <a:solidFill>
                  <a:srgbClr val="087F8C"/>
                </a:solidFill>
              </a:rPr>
              <a:t>03  /  12</a:t>
            </a:r>
          </a:p>
        </p:txBody>
      </p:sp>
      <p:sp>
        <p:nvSpPr>
          <p:cNvPr id="3" name="">
            <a:extLst xmlns:a="http://schemas.openxmlformats.org/drawingml/2006/main">
              <a:ext uri="{FF2B5EF4-FFF2-40B4-BE49-F238E27FC236}">
                <a16:creationId xmlns:a16="http://schemas.microsoft.com/office/drawing/2014/main" id="{4B10F3E4-DB1C-4979-87F4-A1C847AF601A}"/>
              </a:ext>
            </a:extLst>
          </p:cNvPr>
          <p:cNvSpPr>
            <a:spLocks xmlns:a="http://schemas.openxmlformats.org/drawingml/2006/main" noGrp="1"/>
          </p:cNvSpPr>
          <p:nvPr/>
        </p:nvSpPr>
        <p:spPr>
          <a:xfrm xmlns:a="http://schemas.openxmlformats.org/drawingml/2006/main">
            <a:off x="666750" y="142875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F50"/>
                </a:solidFill>
              </a:defRPr>
            </a:defPPr>
          </a:lstStyle>
          <a:p xmlns:a="http://schemas.openxmlformats.org/drawingml/2006/main">
            <a:pPr>
              <a:defRPr sz="2175" b="0">
                <a:solidFill>
                  <a:srgbClr val="263F50"/>
                </a:solidFill>
              </a:defRPr>
            </a:pPr>
            <a:r>
              <a:rPr sz="2175" b="0">
                <a:solidFill>
                  <a:srgbClr val="263F50"/>
                </a:solidFill>
              </a:rPr>
              <a:t>Build a readable nine-rule Mamdani controller.</a:t>
            </a:r>
          </a:p>
        </p:txBody>
      </p:sp>
      <p:sp>
        <p:nvSpPr>
          <p:cNvPr id="4" name="">
            <a:extLst xmlns:a="http://schemas.openxmlformats.org/drawingml/2006/main">
              <a:ext uri="{FF2B5EF4-FFF2-40B4-BE49-F238E27FC236}">
                <a16:creationId xmlns:a16="http://schemas.microsoft.com/office/drawing/2014/main" id="{3318F289-DC06-40EE-B238-B215ACDC8511}"/>
              </a:ext>
            </a:extLst>
          </p:cNvPr>
          <p:cNvSpPr>
            <a:spLocks xmlns:a="http://schemas.openxmlformats.org/drawingml/2006/main" noGrp="1"/>
          </p:cNvSpPr>
          <p:nvPr/>
        </p:nvSpPr>
        <p:spPr>
          <a:xfrm xmlns:a="http://schemas.openxmlformats.org/drawingml/2006/main">
            <a:off x="666750" y="249555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F50"/>
                </a:solidFill>
              </a:defRPr>
            </a:defPPr>
          </a:lstStyle>
          <a:p xmlns:a="http://schemas.openxmlformats.org/drawingml/2006/main">
            <a:pPr>
              <a:defRPr sz="2175" b="0">
                <a:solidFill>
                  <a:srgbClr val="263F50"/>
                </a:solidFill>
              </a:defRPr>
            </a:pPr>
            <a:r>
              <a:rPr sz="2175" b="0">
                <a:solidFill>
                  <a:srgbClr val="263F50"/>
                </a:solidFill>
              </a:rPr>
              <a:t>Visualize membership functions and explain a worked example.</a:t>
            </a:r>
          </a:p>
        </p:txBody>
      </p:sp>
      <p:sp>
        <p:nvSpPr>
          <p:cNvPr id="5" name="">
            <a:extLst xmlns:a="http://schemas.openxmlformats.org/drawingml/2006/main">
              <a:ext uri="{FF2B5EF4-FFF2-40B4-BE49-F238E27FC236}">
                <a16:creationId xmlns:a16="http://schemas.microsoft.com/office/drawing/2014/main" id="{B8B4C198-EA1E-41B3-84CF-02BD8C1516B0}"/>
              </a:ext>
            </a:extLst>
          </p:cNvPr>
          <p:cNvSpPr>
            <a:spLocks xmlns:a="http://schemas.openxmlformats.org/drawingml/2006/main" noGrp="1"/>
          </p:cNvSpPr>
          <p:nvPr/>
        </p:nvSpPr>
        <p:spPr>
          <a:xfrm xmlns:a="http://schemas.openxmlformats.org/drawingml/2006/main">
            <a:off x="666750" y="356235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F50"/>
                </a:solidFill>
              </a:defRPr>
            </a:defPPr>
          </a:lstStyle>
          <a:p xmlns:a="http://schemas.openxmlformats.org/drawingml/2006/main">
            <a:pPr>
              <a:defRPr sz="2175" b="0">
                <a:solidFill>
                  <a:srgbClr val="263F50"/>
                </a:solidFill>
              </a:defRPr>
            </a:pPr>
            <a:r>
              <a:rPr sz="2175" b="0">
                <a:solidFill>
                  <a:srgbClr val="263F50"/>
                </a:solidFill>
              </a:rPr>
              <a:t>Check coverage, bounds and invalid inputs across the declared domain.</a:t>
            </a:r>
          </a:p>
        </p:txBody>
      </p:sp>
      <p:sp>
        <p:nvSpPr>
          <p:cNvPr id="6" name="">
            <a:extLst xmlns:a="http://schemas.openxmlformats.org/drawingml/2006/main">
              <a:ext uri="{FF2B5EF4-FFF2-40B4-BE49-F238E27FC236}">
                <a16:creationId xmlns:a16="http://schemas.microsoft.com/office/drawing/2014/main" id="{B30D5A02-8719-4BAA-9FA4-2AD67A669F8B}"/>
              </a:ext>
            </a:extLst>
          </p:cNvPr>
          <p:cNvSpPr>
            <a:spLocks xmlns:a="http://schemas.openxmlformats.org/drawingml/2006/main" noGrp="1"/>
          </p:cNvSpPr>
          <p:nvPr/>
        </p:nvSpPr>
        <p:spPr>
          <a:xfrm xmlns:a="http://schemas.openxmlformats.org/drawingml/2006/main">
            <a:off x="666750" y="462915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F50"/>
                </a:solidFill>
              </a:defRPr>
            </a:defPPr>
          </a:lstStyle>
          <a:p xmlns:a="http://schemas.openxmlformats.org/drawingml/2006/main">
            <a:pPr>
              <a:defRPr sz="2175" b="0">
                <a:solidFill>
                  <a:srgbClr val="263F50"/>
                </a:solidFill>
              </a:defRPr>
            </a:pPr>
            <a:r>
              <a:rPr sz="2175" b="0">
                <a:solidFill>
                  <a:srgbClr val="263F50"/>
                </a:solidFill>
              </a:rPr>
              <a:t>Evolve expression trees to approximate simulated outputs.</a:t>
            </a:r>
          </a:p>
        </p:txBody>
      </p:sp>
    </p:spTree>
    <p:extLst>
      <p:ext uri="{BB962C8B-B14F-4D97-AF65-F5344CB8AC3E}">
        <p14:creationId xmlns:p14="http://schemas.microsoft.com/office/powerpoint/2010/main" val="2110211579"/>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ABFE18D-01CA-47C5-B7F8-06BA3A0626C5}"/>
              </a:ext>
            </a:extLst>
          </p:cNvPr>
          <p:cNvSpPr>
            <a:spLocks xmlns:a="http://schemas.openxmlformats.org/drawingml/2006/main" noGrp="1"/>
          </p:cNvSpPr>
          <p:nvPr/>
        </p:nvSpPr>
        <p:spPr>
          <a:xfrm xmlns:a="http://schemas.openxmlformats.org/drawingml/2006/main">
            <a:off x="609600" y="4095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047"/>
                </a:solidFill>
              </a:defRPr>
            </a:defPPr>
          </a:lstStyle>
          <a:p xmlns:a="http://schemas.openxmlformats.org/drawingml/2006/main">
            <a:pPr>
              <a:defRPr sz="3300" b="1">
                <a:solidFill>
                  <a:srgbClr val="123047"/>
                </a:solidFill>
              </a:defRPr>
            </a:pPr>
            <a:r>
              <a:rPr sz="3300" b="1">
                <a:solidFill>
                  <a:srgbClr val="123047"/>
                </a:solidFill>
              </a:rPr>
              <a:t>System Design</a:t>
            </a:r>
          </a:p>
        </p:txBody>
      </p:sp>
      <p:sp>
        <p:nvSpPr>
          <p:cNvPr id="2" name="">
            <a:extLst xmlns:a="http://schemas.openxmlformats.org/drawingml/2006/main">
              <a:ext uri="{FF2B5EF4-FFF2-40B4-BE49-F238E27FC236}">
                <a16:creationId xmlns:a16="http://schemas.microsoft.com/office/drawing/2014/main" id="{11CE16BC-A56B-40D2-9859-2C8D3ED05389}"/>
              </a:ext>
            </a:extLst>
          </p:cNvPr>
          <p:cNvSpPr>
            <a:spLocks xmlns:a="http://schemas.openxmlformats.org/drawingml/2006/main" noGrp="1"/>
          </p:cNvSpPr>
          <p:nvPr/>
        </p:nvSpPr>
        <p:spPr>
          <a:xfrm xmlns:a="http://schemas.openxmlformats.org/drawingml/2006/main">
            <a:off x="10668000" y="63246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87F8C"/>
                </a:solidFill>
              </a:defRPr>
            </a:defPPr>
          </a:lstStyle>
          <a:p xmlns:a="http://schemas.openxmlformats.org/drawingml/2006/main">
            <a:pPr>
              <a:defRPr sz="1200" b="0">
                <a:solidFill>
                  <a:srgbClr val="087F8C"/>
                </a:solidFill>
              </a:defRPr>
            </a:pPr>
            <a:r>
              <a:rPr sz="1200" b="0">
                <a:solidFill>
                  <a:srgbClr val="087F8C"/>
                </a:solidFill>
              </a:rPr>
              <a:t>04  /  12</a:t>
            </a:r>
          </a:p>
        </p:txBody>
      </p:sp>
      <p:graphicFrame>
        <p:nvGraphicFramePr>
          <p:cNvPr id="3" name="">
            <a:extLst xmlns:a="http://schemas.openxmlformats.org/drawingml/2006/main">
              <a:ext uri="{FF2B5EF4-FFF2-40B4-BE49-F238E27FC236}">
                <a16:creationId xmlns:a16="http://schemas.microsoft.com/office/drawing/2014/main" id="{481487BB-693D-4523-A5AB-2643A0BEBE15}"/>
              </a:ext>
            </a:extLst>
          </p:cNvPr>
          <p:cNvGraphicFramePr/>
          <p:nvPr/>
        </p:nvGraphicFramePr>
        <p:xfrm>
          <a:off xmlns:a="http://schemas.openxmlformats.org/drawingml/2006/main" x="666750" y="1524000"/>
          <a:ext xmlns:a="http://schemas.openxmlformats.org/drawingml/2006/main" cx="10668000" cy="2762250"/>
        </p:xfrm>
        <a:graphic xmlns:a="http://schemas.openxmlformats.org/drawingml/2006/main">
          <a:graphicData uri="http://schemas.openxmlformats.org/drawingml/2006/table">
            <a:tbl>
              <a:tblPr/>
              <a:tblGrid>
                <a:gridCol w="3556000"/>
                <a:gridCol w="3556000"/>
                <a:gridCol w="3556000"/>
              </a:tblGrid>
              <a:tr h="690563">
                <a:tc>
                  <a:txBody>
                    <a:bodyPr/>
                    <a:lstStyle/>
                    <a:p>
                      <a:r>
                        <a:rPr sz="2100" b="1">
                          <a:solidFill>
                            <a:srgbClr val="263F50"/>
                          </a:solidFill>
                        </a:rPr>
                        <a:t>Variable</a:t>
                      </a:r>
                    </a:p>
                  </a:txBody>
                  <a:tcPr marL="91440" marR="91440" marT="45720" marB="45720">
                    <a:solidFill>
                      <a:srgbClr val="DCEFF1"/>
                    </a:solidFill>
                  </a:tcPr>
                </a:tc>
                <a:tc>
                  <a:txBody>
                    <a:bodyPr/>
                    <a:lstStyle/>
                    <a:p>
                      <a:r>
                        <a:rPr sz="2100" b="1">
                          <a:solidFill>
                            <a:srgbClr val="263F50"/>
                          </a:solidFill>
                        </a:rPr>
                        <a:t>Domain</a:t>
                      </a:r>
                    </a:p>
                  </a:txBody>
                  <a:tcPr marL="91440" marR="91440" marT="45720" marB="45720">
                    <a:solidFill>
                      <a:srgbClr val="DCEFF1"/>
                    </a:solidFill>
                  </a:tcPr>
                </a:tc>
                <a:tc>
                  <a:txBody>
                    <a:bodyPr/>
                    <a:lstStyle/>
                    <a:p>
                      <a:r>
                        <a:rPr sz="2100" b="1">
                          <a:solidFill>
                            <a:srgbClr val="263F50"/>
                          </a:solidFill>
                        </a:rPr>
                        <a:t>Meaning</a:t>
                      </a:r>
                    </a:p>
                  </a:txBody>
                  <a:tcPr marL="91440" marR="91440" marT="45720" marB="45720">
                    <a:solidFill>
                      <a:srgbClr val="DCEFF1"/>
                    </a:solidFill>
                  </a:tcPr>
                </a:tc>
              </a:tr>
              <a:tr h="690563">
                <a:tc>
                  <a:txBody>
                    <a:bodyPr/>
                    <a:lstStyle/>
                    <a:p>
                      <a:r>
                        <a:rPr sz="2100" b="0">
                          <a:solidFill>
                            <a:srgbClr val="263F50"/>
                          </a:solidFill>
                        </a:rPr>
                        <a:t>Temperature</a:t>
                      </a:r>
                    </a:p>
                  </a:txBody>
                  <a:tcPr marL="91440" marR="91440" marT="45720" marB="45720">
                    <a:solidFill>
                      <a:srgbClr val="FFFFFF"/>
                    </a:solidFill>
                  </a:tcPr>
                </a:tc>
                <a:tc>
                  <a:txBody>
                    <a:bodyPr/>
                    <a:lstStyle/>
                    <a:p>
                      <a:r>
                        <a:rPr sz="2100" b="0">
                          <a:solidFill>
                            <a:srgbClr val="263F50"/>
                          </a:solidFill>
                        </a:rPr>
                        <a:t>15–40 °C</a:t>
                      </a:r>
                    </a:p>
                  </a:txBody>
                  <a:tcPr marL="91440" marR="91440" marT="45720" marB="45720">
                    <a:solidFill>
                      <a:srgbClr val="FFFFFF"/>
                    </a:solidFill>
                  </a:tcPr>
                </a:tc>
                <a:tc>
                  <a:txBody>
                    <a:bodyPr/>
                    <a:lstStyle/>
                    <a:p>
                      <a:r>
                        <a:rPr sz="2100" b="0">
                          <a:solidFill>
                            <a:srgbClr val="263F50"/>
                          </a:solidFill>
                        </a:rPr>
                        <a:t>Room condition input</a:t>
                      </a:r>
                    </a:p>
                  </a:txBody>
                  <a:tcPr marL="91440" marR="91440" marT="45720" marB="45720">
                    <a:solidFill>
                      <a:srgbClr val="FFFFFF"/>
                    </a:solidFill>
                  </a:tcPr>
                </a:tc>
              </a:tr>
              <a:tr h="690563">
                <a:tc>
                  <a:txBody>
                    <a:bodyPr/>
                    <a:lstStyle/>
                    <a:p>
                      <a:r>
                        <a:rPr sz="2100" b="0">
                          <a:solidFill>
                            <a:srgbClr val="263F50"/>
                          </a:solidFill>
                        </a:rPr>
                        <a:t>Humidity</a:t>
                      </a:r>
                    </a:p>
                  </a:txBody>
                  <a:tcPr marL="91440" marR="91440" marT="45720" marB="45720">
                    <a:solidFill>
                      <a:srgbClr val="FFFFFF"/>
                    </a:solidFill>
                  </a:tcPr>
                </a:tc>
                <a:tc>
                  <a:txBody>
                    <a:bodyPr/>
                    <a:lstStyle/>
                    <a:p>
                      <a:r>
                        <a:rPr sz="2100" b="0">
                          <a:solidFill>
                            <a:srgbClr val="263F50"/>
                          </a:solidFill>
                        </a:rPr>
                        <a:t>20–90% RH</a:t>
                      </a:r>
                    </a:p>
                  </a:txBody>
                  <a:tcPr marL="91440" marR="91440" marT="45720" marB="45720">
                    <a:solidFill>
                      <a:srgbClr val="FFFFFF"/>
                    </a:solidFill>
                  </a:tcPr>
                </a:tc>
                <a:tc>
                  <a:txBody>
                    <a:bodyPr/>
                    <a:lstStyle/>
                    <a:p>
                      <a:r>
                        <a:rPr sz="2100" b="0">
                          <a:solidFill>
                            <a:srgbClr val="263F50"/>
                          </a:solidFill>
                        </a:rPr>
                        <a:t>Room condition input</a:t>
                      </a:r>
                    </a:p>
                  </a:txBody>
                  <a:tcPr marL="91440" marR="91440" marT="45720" marB="45720">
                    <a:solidFill>
                      <a:srgbClr val="FFFFFF"/>
                    </a:solidFill>
                  </a:tcPr>
                </a:tc>
              </a:tr>
              <a:tr h="690563">
                <a:tc>
                  <a:txBody>
                    <a:bodyPr/>
                    <a:lstStyle/>
                    <a:p>
                      <a:r>
                        <a:rPr sz="2100" b="0">
                          <a:solidFill>
                            <a:srgbClr val="263F50"/>
                          </a:solidFill>
                        </a:rPr>
                        <a:t>Fan command</a:t>
                      </a:r>
                    </a:p>
                  </a:txBody>
                  <a:tcPr marL="91440" marR="91440" marT="45720" marB="45720">
                    <a:solidFill>
                      <a:srgbClr val="FFFFFF"/>
                    </a:solidFill>
                  </a:tcPr>
                </a:tc>
                <a:tc>
                  <a:txBody>
                    <a:bodyPr/>
                    <a:lstStyle/>
                    <a:p>
                      <a:r>
                        <a:rPr sz="2100" b="0">
                          <a:solidFill>
                            <a:srgbClr val="263F50"/>
                          </a:solidFill>
                        </a:rPr>
                        <a:t>0–100%</a:t>
                      </a:r>
                    </a:p>
                  </a:txBody>
                  <a:tcPr marL="91440" marR="91440" marT="45720" marB="45720">
                    <a:solidFill>
                      <a:srgbClr val="FFFFFF"/>
                    </a:solidFill>
                  </a:tcPr>
                </a:tc>
                <a:tc>
                  <a:txBody>
                    <a:bodyPr/>
                    <a:lstStyle/>
                    <a:p>
                      <a:r>
                        <a:rPr sz="2100" b="0">
                          <a:solidFill>
                            <a:srgbClr val="263F50"/>
                          </a:solidFill>
                        </a:rPr>
                        <a:t>Requested speed, not RPM</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1284265-3996-4ED2-BFF2-980C60437344}"/>
              </a:ext>
            </a:extLst>
          </p:cNvPr>
          <p:cNvSpPr>
            <a:spLocks xmlns:a="http://schemas.openxmlformats.org/drawingml/2006/main" noGrp="1"/>
          </p:cNvSpPr>
          <p:nvPr/>
        </p:nvSpPr>
        <p:spPr>
          <a:xfrm xmlns:a="http://schemas.openxmlformats.org/drawingml/2006/main">
            <a:off x="666750" y="46672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F8C"/>
                </a:solidFill>
              </a:defRPr>
            </a:defPPr>
          </a:lstStyle>
          <a:p xmlns:a="http://schemas.openxmlformats.org/drawingml/2006/main">
            <a:pPr>
              <a:defRPr sz="2100" b="1">
                <a:solidFill>
                  <a:srgbClr val="087F8C"/>
                </a:solidFill>
              </a:defRPr>
            </a:pPr>
            <a:r>
              <a:rPr sz="2100" b="1">
                <a:solidFill>
                  <a:srgbClr val="087F8C"/>
                </a:solidFill>
              </a:rPr>
              <a:t>Validate → Fuzzify → Min rules → Max aggregation → Centroid</a:t>
            </a:r>
          </a:p>
        </p:txBody>
      </p:sp>
      <p:sp>
        <p:nvSpPr>
          <p:cNvPr id="5" name="">
            <a:extLst xmlns:a="http://schemas.openxmlformats.org/drawingml/2006/main">
              <a:ext uri="{FF2B5EF4-FFF2-40B4-BE49-F238E27FC236}">
                <a16:creationId xmlns:a16="http://schemas.microsoft.com/office/drawing/2014/main" id="{A677DE89-DBD4-46BF-BA34-BA4D93E9B0A1}"/>
              </a:ext>
            </a:extLst>
          </p:cNvPr>
          <p:cNvSpPr>
            <a:spLocks xmlns:a="http://schemas.openxmlformats.org/drawingml/2006/main" noGrp="1"/>
          </p:cNvSpPr>
          <p:nvPr/>
        </p:nvSpPr>
        <p:spPr>
          <a:xfrm xmlns:a="http://schemas.openxmlformats.org/drawingml/2006/main">
            <a:off x="666750" y="5524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F50"/>
                </a:solidFill>
              </a:defRPr>
            </a:defPPr>
          </a:lstStyle>
          <a:p xmlns:a="http://schemas.openxmlformats.org/drawingml/2006/main">
            <a:pPr>
              <a:defRPr sz="1950" b="0">
                <a:solidFill>
                  <a:srgbClr val="263F50"/>
                </a:solidFill>
              </a:defRPr>
            </a:pPr>
            <a:r>
              <a:rPr sz="1950" b="0">
                <a:solidFill>
                  <a:srgbClr val="263F50"/>
                </a:solidFill>
              </a:rPr>
              <a:t>Software simulation. A future motor driver needs calibration.</a:t>
            </a:r>
          </a:p>
        </p:txBody>
      </p:sp>
    </p:spTree>
    <p:extLst>
      <p:ext uri="{BB962C8B-B14F-4D97-AF65-F5344CB8AC3E}">
        <p14:creationId xmlns:p14="http://schemas.microsoft.com/office/powerpoint/2010/main" val="1204543520"/>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D96202-CE27-4337-8AB7-B10DEC40C222}"/>
              </a:ext>
            </a:extLst>
          </p:cNvPr>
          <p:cNvSpPr>
            <a:spLocks xmlns:a="http://schemas.openxmlformats.org/drawingml/2006/main" noGrp="1"/>
          </p:cNvSpPr>
          <p:nvPr/>
        </p:nvSpPr>
        <p:spPr>
          <a:xfrm xmlns:a="http://schemas.openxmlformats.org/drawingml/2006/main">
            <a:off x="609600" y="4095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047"/>
                </a:solidFill>
              </a:defRPr>
            </a:defPPr>
          </a:lstStyle>
          <a:p xmlns:a="http://schemas.openxmlformats.org/drawingml/2006/main">
            <a:pPr>
              <a:defRPr sz="3300" b="1">
                <a:solidFill>
                  <a:srgbClr val="123047"/>
                </a:solidFill>
              </a:defRPr>
            </a:pPr>
            <a:r>
              <a:rPr sz="3300" b="1">
                <a:solidFill>
                  <a:srgbClr val="123047"/>
                </a:solidFill>
              </a:rPr>
              <a:t>Membership Functions</a:t>
            </a:r>
          </a:p>
        </p:txBody>
      </p:sp>
      <p:sp>
        <p:nvSpPr>
          <p:cNvPr id="2" name="">
            <a:extLst xmlns:a="http://schemas.openxmlformats.org/drawingml/2006/main">
              <a:ext uri="{FF2B5EF4-FFF2-40B4-BE49-F238E27FC236}">
                <a16:creationId xmlns:a16="http://schemas.microsoft.com/office/drawing/2014/main" id="{56D7BE75-CFD6-4C84-9DA1-AA7C3648F365}"/>
              </a:ext>
            </a:extLst>
          </p:cNvPr>
          <p:cNvSpPr>
            <a:spLocks xmlns:a="http://schemas.openxmlformats.org/drawingml/2006/main" noGrp="1"/>
          </p:cNvSpPr>
          <p:nvPr/>
        </p:nvSpPr>
        <p:spPr>
          <a:xfrm xmlns:a="http://schemas.openxmlformats.org/drawingml/2006/main">
            <a:off x="10668000" y="63246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87F8C"/>
                </a:solidFill>
              </a:defRPr>
            </a:defPPr>
          </a:lstStyle>
          <a:p xmlns:a="http://schemas.openxmlformats.org/drawingml/2006/main">
            <a:pPr>
              <a:defRPr sz="1200" b="0">
                <a:solidFill>
                  <a:srgbClr val="087F8C"/>
                </a:solidFill>
              </a:defRPr>
            </a:pPr>
            <a:r>
              <a:rPr sz="1200" b="0">
                <a:solidFill>
                  <a:srgbClr val="087F8C"/>
                </a:solidFill>
              </a:rPr>
              <a:t>05  /  12</a:t>
            </a:r>
          </a:p>
        </p:txBody>
      </p:sp>
      <p:graphicFrame>
        <p:nvGraphicFramePr>
          <p:cNvPr id="3" name="Chart">
            <a:extLst xmlns:a="http://schemas.openxmlformats.org/drawingml/2006/main">
              <a:ext uri="{FF2B5EF4-FFF2-40B4-BE49-F238E27FC236}">
                <a16:creationId xmlns:a16="http://schemas.microsoft.com/office/drawing/2014/main" id="{36321154-4828-4A78-9289-49FE54C48E0F}"/>
              </a:ext>
            </a:extLst>
          </p:cNvPr>
          <p:cNvGraphicFramePr/>
          <p:nvPr/>
        </p:nvGraphicFramePr>
        <p:xfrm>
          <a:off xmlns:a="http://schemas.openxmlformats.org/drawingml/2006/main" x="666750" y="1524000"/>
          <a:ext xmlns:a="http://schemas.openxmlformats.org/drawingml/2006/main" cx="6667500" cy="4000500"/>
        </p:xfrm>
        <a:graphic xmlns:a="http://schemas.openxmlformats.org/drawingml/2006/main">
          <a:graphicData uri="http://schemas.openxmlformats.org/drawingml/2006/chart">
            <c:chart xmlns:r="http://schemas.openxmlformats.org/officeDocument/2006/relationships" xmlns:c="http://schemas.openxmlformats.org/drawingml/2006/chart" r:id="R6bd3e2ed3d4d4bc7"/>
          </a:graphicData>
        </a:graphic>
      </p:graphicFrame>
      <p:sp>
        <p:nvSpPr>
          <p:cNvPr id="4" name="">
            <a:extLst xmlns:a="http://schemas.openxmlformats.org/drawingml/2006/main">
              <a:ext uri="{FF2B5EF4-FFF2-40B4-BE49-F238E27FC236}">
                <a16:creationId xmlns:a16="http://schemas.microsoft.com/office/drawing/2014/main" id="{DBD3F230-1C56-4E72-AF2B-CC833359B052}"/>
              </a:ext>
            </a:extLst>
          </p:cNvPr>
          <p:cNvSpPr>
            <a:spLocks xmlns:a="http://schemas.openxmlformats.org/drawingml/2006/main" noGrp="1"/>
          </p:cNvSpPr>
          <p:nvPr/>
        </p:nvSpPr>
        <p:spPr>
          <a:xfrm xmlns:a="http://schemas.openxmlformats.org/drawingml/2006/main">
            <a:off x="2095500" y="56197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63F50"/>
                </a:solidFill>
              </a:defRPr>
            </a:defPPr>
          </a:lstStyle>
          <a:p xmlns:a="http://schemas.openxmlformats.org/drawingml/2006/main">
            <a:pPr>
              <a:defRPr sz="1725" b="0">
                <a:solidFill>
                  <a:srgbClr val="263F50"/>
                </a:solidFill>
              </a:defRPr>
            </a:pPr>
            <a:r>
              <a:rPr sz="1725" b="0">
                <a:solidFill>
                  <a:srgbClr val="263F50"/>
                </a:solidFill>
              </a:rPr>
              <a:t>Temperature (°C)</a:t>
            </a:r>
          </a:p>
        </p:txBody>
      </p:sp>
      <p:sp>
        <p:nvSpPr>
          <p:cNvPr id="5" name="">
            <a:extLst xmlns:a="http://schemas.openxmlformats.org/drawingml/2006/main">
              <a:ext uri="{FF2B5EF4-FFF2-40B4-BE49-F238E27FC236}">
                <a16:creationId xmlns:a16="http://schemas.microsoft.com/office/drawing/2014/main" id="{D1B22225-A059-4709-B46B-D2533C5597B4}"/>
              </a:ext>
            </a:extLst>
          </p:cNvPr>
          <p:cNvSpPr>
            <a:spLocks xmlns:a="http://schemas.openxmlformats.org/drawingml/2006/main" noGrp="1"/>
          </p:cNvSpPr>
          <p:nvPr/>
        </p:nvSpPr>
        <p:spPr>
          <a:xfrm xmlns:a="http://schemas.openxmlformats.org/drawingml/2006/main">
            <a:off x="7810500" y="1857375"/>
            <a:ext cx="3619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F50"/>
                </a:solidFill>
              </a:defRPr>
            </a:defPPr>
          </a:lstStyle>
          <a:p xmlns:a="http://schemas.openxmlformats.org/drawingml/2006/main">
            <a:pPr>
              <a:defRPr sz="1950" b="0">
                <a:solidFill>
                  <a:srgbClr val="263F50"/>
                </a:solidFill>
              </a:defRPr>
            </a:pPr>
            <a:r>
              <a:rPr sz="1950" b="0">
                <a:solidFill>
                  <a:srgbClr val="263F50"/>
                </a:solidFill>
              </a:rPr>
              <a:t>Humidity: (20,20,55)</a:t>
            </a:r>
          </a:p>
          <a:p xmlns:a="http://schemas.openxmlformats.org/drawingml/2006/main">
            <a:pPr>
              <a:defRPr sz="1950" b="0">
                <a:solidFill>
                  <a:srgbClr val="263F50"/>
                </a:solidFill>
              </a:defRPr>
            </a:pPr>
            <a:r>
              <a:rPr sz="1950" b="0">
                <a:solidFill>
                  <a:srgbClr val="263F50"/>
                </a:solidFill>
              </a:rPr>
              <a:t>(35,60,85), (65,90,90)</a:t>
            </a:r>
          </a:p>
          <a:p xmlns:a="http://schemas.openxmlformats.org/drawingml/2006/main">
            <a:r>
              <a:t/>
            </a:r>
          </a:p>
          <a:p xmlns:a="http://schemas.openxmlformats.org/drawingml/2006/main">
            <a:pPr>
              <a:defRPr sz="1950" b="0">
                <a:solidFill>
                  <a:srgbClr val="263F50"/>
                </a:solidFill>
              </a:defRPr>
            </a:pPr>
            <a:r>
              <a:rPr sz="1950" b="0">
                <a:solidFill>
                  <a:srgbClr val="263F50"/>
                </a:solidFill>
              </a:rPr>
              <a:t>Output: (0,0,50)</a:t>
            </a:r>
          </a:p>
          <a:p xmlns:a="http://schemas.openxmlformats.org/drawingml/2006/main">
            <a:pPr>
              <a:defRPr sz="1950" b="0">
                <a:solidFill>
                  <a:srgbClr val="263F50"/>
                </a:solidFill>
              </a:defRPr>
            </a:pPr>
            <a:r>
              <a:rPr sz="1950" b="0">
                <a:solidFill>
                  <a:srgbClr val="263F50"/>
                </a:solidFill>
              </a:rPr>
              <a:t>(25,50,75), (50,100,100)</a:t>
            </a:r>
          </a:p>
        </p:txBody>
      </p:sp>
      <p:sp>
        <p:nvSpPr>
          <p:cNvPr id="6" name="">
            <a:extLst xmlns:a="http://schemas.openxmlformats.org/drawingml/2006/main">
              <a:ext uri="{FF2B5EF4-FFF2-40B4-BE49-F238E27FC236}">
                <a16:creationId xmlns:a16="http://schemas.microsoft.com/office/drawing/2014/main" id="{A8EC3BBE-D84F-4EF3-9E13-5F497D979E8A}"/>
              </a:ext>
            </a:extLst>
          </p:cNvPr>
          <p:cNvSpPr>
            <a:spLocks xmlns:a="http://schemas.openxmlformats.org/drawingml/2006/main" noGrp="1"/>
          </p:cNvSpPr>
          <p:nvPr/>
        </p:nvSpPr>
        <p:spPr>
          <a:xfrm xmlns:a="http://schemas.openxmlformats.org/drawingml/2006/main">
            <a:off x="666750" y="60483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087F8C"/>
                </a:solidFill>
              </a:defRPr>
            </a:defPPr>
          </a:lstStyle>
          <a:p xmlns:a="http://schemas.openxmlformats.org/drawingml/2006/main">
            <a:pPr>
              <a:defRPr sz="1575" b="0">
                <a:solidFill>
                  <a:srgbClr val="087F8C"/>
                </a:solidFill>
              </a:defRPr>
            </a:pPr>
            <a:r>
              <a:rPr sz="1575" b="0">
                <a:solidFill>
                  <a:srgbClr val="087F8C"/>
                </a:solidFill>
              </a:rPr>
              <a:t>Temperature sets: (15,15,27), (20,28,36), (29,40,40)</a:t>
            </a:r>
          </a:p>
        </p:txBody>
      </p:sp>
    </p:spTree>
    <p:extLst>
      <p:ext uri="{BB962C8B-B14F-4D97-AF65-F5344CB8AC3E}">
        <p14:creationId xmlns:p14="http://schemas.microsoft.com/office/powerpoint/2010/main" val="581354545"/>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D9F3A37-0BEC-4725-9121-639581AC34C1}"/>
              </a:ext>
            </a:extLst>
          </p:cNvPr>
          <p:cNvSpPr>
            <a:spLocks xmlns:a="http://schemas.openxmlformats.org/drawingml/2006/main" noGrp="1"/>
          </p:cNvSpPr>
          <p:nvPr/>
        </p:nvSpPr>
        <p:spPr>
          <a:xfrm xmlns:a="http://schemas.openxmlformats.org/drawingml/2006/main">
            <a:off x="609600" y="4095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047"/>
                </a:solidFill>
              </a:defRPr>
            </a:defPPr>
          </a:lstStyle>
          <a:p xmlns:a="http://schemas.openxmlformats.org/drawingml/2006/main">
            <a:pPr>
              <a:defRPr sz="3300" b="1">
                <a:solidFill>
                  <a:srgbClr val="123047"/>
                </a:solidFill>
              </a:defRPr>
            </a:pPr>
            <a:r>
              <a:rPr sz="3300" b="1">
                <a:solidFill>
                  <a:srgbClr val="123047"/>
                </a:solidFill>
              </a:rPr>
              <a:t>Nine Fuzzy Rules</a:t>
            </a:r>
          </a:p>
        </p:txBody>
      </p:sp>
      <p:sp>
        <p:nvSpPr>
          <p:cNvPr id="2" name="">
            <a:extLst xmlns:a="http://schemas.openxmlformats.org/drawingml/2006/main">
              <a:ext uri="{FF2B5EF4-FFF2-40B4-BE49-F238E27FC236}">
                <a16:creationId xmlns:a16="http://schemas.microsoft.com/office/drawing/2014/main" id="{5B9F71EE-6E2E-4425-A0DF-05EA38746788}"/>
              </a:ext>
            </a:extLst>
          </p:cNvPr>
          <p:cNvSpPr>
            <a:spLocks xmlns:a="http://schemas.openxmlformats.org/drawingml/2006/main" noGrp="1"/>
          </p:cNvSpPr>
          <p:nvPr/>
        </p:nvSpPr>
        <p:spPr>
          <a:xfrm xmlns:a="http://schemas.openxmlformats.org/drawingml/2006/main">
            <a:off x="10668000" y="63246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87F8C"/>
                </a:solidFill>
              </a:defRPr>
            </a:defPPr>
          </a:lstStyle>
          <a:p xmlns:a="http://schemas.openxmlformats.org/drawingml/2006/main">
            <a:pPr>
              <a:defRPr sz="1200" b="0">
                <a:solidFill>
                  <a:srgbClr val="087F8C"/>
                </a:solidFill>
              </a:defRPr>
            </a:pPr>
            <a:r>
              <a:rPr sz="1200" b="0">
                <a:solidFill>
                  <a:srgbClr val="087F8C"/>
                </a:solidFill>
              </a:rPr>
              <a:t>06  /  12</a:t>
            </a:r>
          </a:p>
        </p:txBody>
      </p:sp>
      <p:graphicFrame>
        <p:nvGraphicFramePr>
          <p:cNvPr id="3" name="">
            <a:extLst xmlns:a="http://schemas.openxmlformats.org/drawingml/2006/main">
              <a:ext uri="{FF2B5EF4-FFF2-40B4-BE49-F238E27FC236}">
                <a16:creationId xmlns:a16="http://schemas.microsoft.com/office/drawing/2014/main" id="{27A31D79-2532-410C-B953-E8324573B0BA}"/>
              </a:ext>
            </a:extLst>
          </p:cNvPr>
          <p:cNvGraphicFramePr/>
          <p:nvPr/>
        </p:nvGraphicFramePr>
        <p:xfrm>
          <a:off xmlns:a="http://schemas.openxmlformats.org/drawingml/2006/main" x="666750" y="1666875"/>
          <a:ext xmlns:a="http://schemas.openxmlformats.org/drawingml/2006/main" cx="10668000" cy="3143250"/>
        </p:xfrm>
        <a:graphic xmlns:a="http://schemas.openxmlformats.org/drawingml/2006/main">
          <a:graphicData uri="http://schemas.openxmlformats.org/drawingml/2006/table">
            <a:tbl>
              <a:tblPr/>
              <a:tblGrid>
                <a:gridCol w="2667000"/>
                <a:gridCol w="2667000"/>
                <a:gridCol w="2667000"/>
                <a:gridCol w="2667000"/>
              </a:tblGrid>
              <a:tr h="785813">
                <a:tc>
                  <a:txBody>
                    <a:bodyPr/>
                    <a:lstStyle/>
                    <a:p>
                      <a:r>
                        <a:rPr sz="2025" b="1">
                          <a:solidFill>
                            <a:srgbClr val="263F50"/>
                          </a:solidFill>
                        </a:rPr>
                        <a:t>Temperature / Humidity</a:t>
                      </a:r>
                    </a:p>
                  </a:txBody>
                  <a:tcPr marL="91440" marR="91440" marT="45720" marB="45720">
                    <a:solidFill>
                      <a:srgbClr val="DCEFF1"/>
                    </a:solidFill>
                  </a:tcPr>
                </a:tc>
                <a:tc>
                  <a:txBody>
                    <a:bodyPr/>
                    <a:lstStyle/>
                    <a:p>
                      <a:r>
                        <a:rPr sz="2025" b="1">
                          <a:solidFill>
                            <a:srgbClr val="263F50"/>
                          </a:solidFill>
                        </a:rPr>
                        <a:t>Low</a:t>
                      </a:r>
                    </a:p>
                  </a:txBody>
                  <a:tcPr marL="91440" marR="91440" marT="45720" marB="45720">
                    <a:solidFill>
                      <a:srgbClr val="DCEFF1"/>
                    </a:solidFill>
                  </a:tcPr>
                </a:tc>
                <a:tc>
                  <a:txBody>
                    <a:bodyPr/>
                    <a:lstStyle/>
                    <a:p>
                      <a:r>
                        <a:rPr sz="2025" b="1">
                          <a:solidFill>
                            <a:srgbClr val="263F50"/>
                          </a:solidFill>
                        </a:rPr>
                        <a:t>Medium</a:t>
                      </a:r>
                    </a:p>
                  </a:txBody>
                  <a:tcPr marL="91440" marR="91440" marT="45720" marB="45720">
                    <a:solidFill>
                      <a:srgbClr val="DCEFF1"/>
                    </a:solidFill>
                  </a:tcPr>
                </a:tc>
                <a:tc>
                  <a:txBody>
                    <a:bodyPr/>
                    <a:lstStyle/>
                    <a:p>
                      <a:r>
                        <a:rPr sz="2025" b="1">
                          <a:solidFill>
                            <a:srgbClr val="263F50"/>
                          </a:solidFill>
                        </a:rPr>
                        <a:t>High</a:t>
                      </a:r>
                    </a:p>
                  </a:txBody>
                  <a:tcPr marL="91440" marR="91440" marT="45720" marB="45720">
                    <a:solidFill>
                      <a:srgbClr val="DCEFF1"/>
                    </a:solidFill>
                  </a:tcPr>
                </a:tc>
              </a:tr>
              <a:tr h="785813">
                <a:tc>
                  <a:txBody>
                    <a:bodyPr/>
                    <a:lstStyle/>
                    <a:p>
                      <a:r>
                        <a:rPr sz="2025" b="0">
                          <a:solidFill>
                            <a:srgbClr val="263F50"/>
                          </a:solidFill>
                        </a:rPr>
                        <a:t>Low</a:t>
                      </a:r>
                    </a:p>
                  </a:txBody>
                  <a:tcPr marL="91440" marR="91440" marT="45720" marB="45720">
                    <a:solidFill>
                      <a:srgbClr val="FFFFFF"/>
                    </a:solidFill>
                  </a:tcPr>
                </a:tc>
                <a:tc>
                  <a:txBody>
                    <a:bodyPr/>
                    <a:lstStyle/>
                    <a:p>
                      <a:r>
                        <a:rPr sz="2025" b="0">
                          <a:solidFill>
                            <a:srgbClr val="263F50"/>
                          </a:solidFill>
                        </a:rPr>
                        <a:t>Low</a:t>
                      </a:r>
                    </a:p>
                  </a:txBody>
                  <a:tcPr marL="91440" marR="91440" marT="45720" marB="45720">
                    <a:solidFill>
                      <a:srgbClr val="FFFFFF"/>
                    </a:solidFill>
                  </a:tcPr>
                </a:tc>
                <a:tc>
                  <a:txBody>
                    <a:bodyPr/>
                    <a:lstStyle/>
                    <a:p>
                      <a:r>
                        <a:rPr sz="2025" b="0">
                          <a:solidFill>
                            <a:srgbClr val="263F50"/>
                          </a:solidFill>
                        </a:rPr>
                        <a:t>Low</a:t>
                      </a:r>
                    </a:p>
                  </a:txBody>
                  <a:tcPr marL="91440" marR="91440" marT="45720" marB="45720">
                    <a:solidFill>
                      <a:srgbClr val="FFFFFF"/>
                    </a:solidFill>
                  </a:tcPr>
                </a:tc>
                <a:tc>
                  <a:txBody>
                    <a:bodyPr/>
                    <a:lstStyle/>
                    <a:p>
                      <a:r>
                        <a:rPr sz="2025" b="0">
                          <a:solidFill>
                            <a:srgbClr val="263F50"/>
                          </a:solidFill>
                        </a:rPr>
                        <a:t>Medium</a:t>
                      </a:r>
                    </a:p>
                  </a:txBody>
                  <a:tcPr marL="91440" marR="91440" marT="45720" marB="45720">
                    <a:solidFill>
                      <a:srgbClr val="FFFFFF"/>
                    </a:solidFill>
                  </a:tcPr>
                </a:tc>
              </a:tr>
              <a:tr h="785813">
                <a:tc>
                  <a:txBody>
                    <a:bodyPr/>
                    <a:lstStyle/>
                    <a:p>
                      <a:r>
                        <a:rPr sz="2025" b="0">
                          <a:solidFill>
                            <a:srgbClr val="263F50"/>
                          </a:solidFill>
                        </a:rPr>
                        <a:t>Medium</a:t>
                      </a:r>
                    </a:p>
                  </a:txBody>
                  <a:tcPr marL="91440" marR="91440" marT="45720" marB="45720">
                    <a:solidFill>
                      <a:srgbClr val="FFFFFF"/>
                    </a:solidFill>
                  </a:tcPr>
                </a:tc>
                <a:tc>
                  <a:txBody>
                    <a:bodyPr/>
                    <a:lstStyle/>
                    <a:p>
                      <a:r>
                        <a:rPr sz="2025" b="0">
                          <a:solidFill>
                            <a:srgbClr val="263F50"/>
                          </a:solidFill>
                        </a:rPr>
                        <a:t>Low</a:t>
                      </a:r>
                    </a:p>
                  </a:txBody>
                  <a:tcPr marL="91440" marR="91440" marT="45720" marB="45720">
                    <a:solidFill>
                      <a:srgbClr val="FFFFFF"/>
                    </a:solidFill>
                  </a:tcPr>
                </a:tc>
                <a:tc>
                  <a:txBody>
                    <a:bodyPr/>
                    <a:lstStyle/>
                    <a:p>
                      <a:r>
                        <a:rPr sz="2025" b="0">
                          <a:solidFill>
                            <a:srgbClr val="263F50"/>
                          </a:solidFill>
                        </a:rPr>
                        <a:t>Medium</a:t>
                      </a:r>
                    </a:p>
                  </a:txBody>
                  <a:tcPr marL="91440" marR="91440" marT="45720" marB="45720">
                    <a:solidFill>
                      <a:srgbClr val="FFFFFF"/>
                    </a:solidFill>
                  </a:tcPr>
                </a:tc>
                <a:tc>
                  <a:txBody>
                    <a:bodyPr/>
                    <a:lstStyle/>
                    <a:p>
                      <a:r>
                        <a:rPr sz="2025" b="0">
                          <a:solidFill>
                            <a:srgbClr val="263F50"/>
                          </a:solidFill>
                        </a:rPr>
                        <a:t>High</a:t>
                      </a:r>
                    </a:p>
                  </a:txBody>
                  <a:tcPr marL="91440" marR="91440" marT="45720" marB="45720">
                    <a:solidFill>
                      <a:srgbClr val="FFFFFF"/>
                    </a:solidFill>
                  </a:tcPr>
                </a:tc>
              </a:tr>
              <a:tr h="785813">
                <a:tc>
                  <a:txBody>
                    <a:bodyPr/>
                    <a:lstStyle/>
                    <a:p>
                      <a:r>
                        <a:rPr sz="2025" b="0">
                          <a:solidFill>
                            <a:srgbClr val="263F50"/>
                          </a:solidFill>
                        </a:rPr>
                        <a:t>High</a:t>
                      </a:r>
                    </a:p>
                  </a:txBody>
                  <a:tcPr marL="91440" marR="91440" marT="45720" marB="45720">
                    <a:solidFill>
                      <a:srgbClr val="FFFFFF"/>
                    </a:solidFill>
                  </a:tcPr>
                </a:tc>
                <a:tc>
                  <a:txBody>
                    <a:bodyPr/>
                    <a:lstStyle/>
                    <a:p>
                      <a:r>
                        <a:rPr sz="2025" b="0">
                          <a:solidFill>
                            <a:srgbClr val="263F50"/>
                          </a:solidFill>
                        </a:rPr>
                        <a:t>High</a:t>
                      </a:r>
                    </a:p>
                  </a:txBody>
                  <a:tcPr marL="91440" marR="91440" marT="45720" marB="45720">
                    <a:solidFill>
                      <a:srgbClr val="FFFFFF"/>
                    </a:solidFill>
                  </a:tcPr>
                </a:tc>
                <a:tc>
                  <a:txBody>
                    <a:bodyPr/>
                    <a:lstStyle/>
                    <a:p>
                      <a:r>
                        <a:rPr sz="2025" b="0">
                          <a:solidFill>
                            <a:srgbClr val="263F50"/>
                          </a:solidFill>
                        </a:rPr>
                        <a:t>High</a:t>
                      </a:r>
                    </a:p>
                  </a:txBody>
                  <a:tcPr marL="91440" marR="91440" marT="45720" marB="45720">
                    <a:solidFill>
                      <a:srgbClr val="FFFFFF"/>
                    </a:solidFill>
                  </a:tcPr>
                </a:tc>
                <a:tc>
                  <a:txBody>
                    <a:bodyPr/>
                    <a:lstStyle/>
                    <a:p>
                      <a:r>
                        <a:rPr sz="2025" b="0">
                          <a:solidFill>
                            <a:srgbClr val="263F50"/>
                          </a:solidFill>
                        </a:rPr>
                        <a:t>High</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0FABFAD-9735-4C78-A19B-B6B4221D1B2E}"/>
              </a:ext>
            </a:extLst>
          </p:cNvPr>
          <p:cNvSpPr>
            <a:spLocks xmlns:a="http://schemas.openxmlformats.org/drawingml/2006/main" noGrp="1"/>
          </p:cNvSpPr>
          <p:nvPr/>
        </p:nvSpPr>
        <p:spPr>
          <a:xfrm xmlns:a="http://schemas.openxmlformats.org/drawingml/2006/main">
            <a:off x="666750" y="528637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F8C"/>
                </a:solidFill>
              </a:defRPr>
            </a:defPPr>
          </a:lstStyle>
          <a:p xmlns:a="http://schemas.openxmlformats.org/drawingml/2006/main">
            <a:pPr>
              <a:defRPr sz="2100" b="1">
                <a:solidFill>
                  <a:srgbClr val="087F8C"/>
                </a:solidFill>
              </a:defRPr>
            </a:pPr>
            <a:r>
              <a:rPr sz="2100" b="1">
                <a:solidFill>
                  <a:srgbClr val="087F8C"/>
                </a:solidFill>
              </a:rPr>
              <a:t>Example: IF temperature is Medium AND humidity is High, THEN fan command is High.</a:t>
            </a:r>
          </a:p>
        </p:txBody>
      </p:sp>
    </p:spTree>
    <p:extLst>
      <p:ext uri="{BB962C8B-B14F-4D97-AF65-F5344CB8AC3E}">
        <p14:creationId xmlns:p14="http://schemas.microsoft.com/office/powerpoint/2010/main" val="769427601"/>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87286A-9B62-433A-A8CA-011DAC7550D3}"/>
              </a:ext>
            </a:extLst>
          </p:cNvPr>
          <p:cNvSpPr>
            <a:spLocks xmlns:a="http://schemas.openxmlformats.org/drawingml/2006/main" noGrp="1"/>
          </p:cNvSpPr>
          <p:nvPr/>
        </p:nvSpPr>
        <p:spPr>
          <a:xfrm xmlns:a="http://schemas.openxmlformats.org/drawingml/2006/main">
            <a:off x="609600" y="4095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047"/>
                </a:solidFill>
              </a:defRPr>
            </a:defPPr>
          </a:lstStyle>
          <a:p xmlns:a="http://schemas.openxmlformats.org/drawingml/2006/main">
            <a:pPr>
              <a:defRPr sz="3300" b="1">
                <a:solidFill>
                  <a:srgbClr val="123047"/>
                </a:solidFill>
              </a:defRPr>
            </a:pPr>
            <a:r>
              <a:rPr sz="3300" b="1">
                <a:solidFill>
                  <a:srgbClr val="123047"/>
                </a:solidFill>
              </a:rPr>
              <a:t>Implementation</a:t>
            </a:r>
          </a:p>
        </p:txBody>
      </p:sp>
      <p:sp>
        <p:nvSpPr>
          <p:cNvPr id="2" name="">
            <a:extLst xmlns:a="http://schemas.openxmlformats.org/drawingml/2006/main">
              <a:ext uri="{FF2B5EF4-FFF2-40B4-BE49-F238E27FC236}">
                <a16:creationId xmlns:a16="http://schemas.microsoft.com/office/drawing/2014/main" id="{C57D4643-7D22-4761-8C7D-4CFE9FE41AF9}"/>
              </a:ext>
            </a:extLst>
          </p:cNvPr>
          <p:cNvSpPr>
            <a:spLocks xmlns:a="http://schemas.openxmlformats.org/drawingml/2006/main" noGrp="1"/>
          </p:cNvSpPr>
          <p:nvPr/>
        </p:nvSpPr>
        <p:spPr>
          <a:xfrm xmlns:a="http://schemas.openxmlformats.org/drawingml/2006/main">
            <a:off x="10668000" y="63246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87F8C"/>
                </a:solidFill>
              </a:defRPr>
            </a:defPPr>
          </a:lstStyle>
          <a:p xmlns:a="http://schemas.openxmlformats.org/drawingml/2006/main">
            <a:pPr>
              <a:defRPr sz="1200" b="0">
                <a:solidFill>
                  <a:srgbClr val="087F8C"/>
                </a:solidFill>
              </a:defRPr>
            </a:pPr>
            <a:r>
              <a:rPr sz="1200" b="0">
                <a:solidFill>
                  <a:srgbClr val="087F8C"/>
                </a:solidFill>
              </a:rPr>
              <a:t>07  /  12</a:t>
            </a:r>
          </a:p>
        </p:txBody>
      </p:sp>
      <p:sp>
        <p:nvSpPr>
          <p:cNvPr id="3" name="">
            <a:extLst xmlns:a="http://schemas.openxmlformats.org/drawingml/2006/main">
              <a:ext uri="{FF2B5EF4-FFF2-40B4-BE49-F238E27FC236}">
                <a16:creationId xmlns:a16="http://schemas.microsoft.com/office/drawing/2014/main" id="{B39DFA53-5384-4888-B17D-73AAE55AE5E1}"/>
              </a:ext>
            </a:extLst>
          </p:cNvPr>
          <p:cNvSpPr>
            <a:spLocks xmlns:a="http://schemas.openxmlformats.org/drawingml/2006/main" noGrp="1"/>
          </p:cNvSpPr>
          <p:nvPr/>
        </p:nvSpPr>
        <p:spPr>
          <a:xfrm xmlns:a="http://schemas.openxmlformats.org/drawingml/2006/main">
            <a:off x="666750" y="1476375"/>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F50"/>
                </a:solidFill>
              </a:defRPr>
            </a:defPPr>
          </a:lstStyle>
          <a:p xmlns:a="http://schemas.openxmlformats.org/drawingml/2006/main">
            <a:pPr>
              <a:defRPr sz="2175" b="0">
                <a:solidFill>
                  <a:srgbClr val="263F50"/>
                </a:solidFill>
              </a:defRPr>
            </a:pPr>
            <a:r>
              <a:rPr sz="2175" b="0">
                <a:solidFill>
                  <a:srgbClr val="263F50"/>
                </a:solidFill>
              </a:rPr>
              <a:t>AND: αᵢⱼ = min(μtemperatureᵢ, μhumidityⱼ)</a:t>
            </a:r>
          </a:p>
        </p:txBody>
      </p:sp>
      <p:sp>
        <p:nvSpPr>
          <p:cNvPr id="4" name="">
            <a:extLst xmlns:a="http://schemas.openxmlformats.org/drawingml/2006/main">
              <a:ext uri="{FF2B5EF4-FFF2-40B4-BE49-F238E27FC236}">
                <a16:creationId xmlns:a16="http://schemas.microsoft.com/office/drawing/2014/main" id="{083D39D8-E376-4B8D-BA38-A9DE8C7B0448}"/>
              </a:ext>
            </a:extLst>
          </p:cNvPr>
          <p:cNvSpPr>
            <a:spLocks xmlns:a="http://schemas.openxmlformats.org/drawingml/2006/main" noGrp="1"/>
          </p:cNvSpPr>
          <p:nvPr/>
        </p:nvSpPr>
        <p:spPr>
          <a:xfrm xmlns:a="http://schemas.openxmlformats.org/drawingml/2006/main">
            <a:off x="666750" y="25527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F50"/>
                </a:solidFill>
              </a:defRPr>
            </a:defPPr>
          </a:lstStyle>
          <a:p xmlns:a="http://schemas.openxmlformats.org/drawingml/2006/main">
            <a:pPr>
              <a:defRPr sz="2175" b="0">
                <a:solidFill>
                  <a:srgbClr val="263F50"/>
                </a:solidFill>
              </a:defRPr>
            </a:pPr>
            <a:r>
              <a:rPr sz="2175" b="0">
                <a:solidFill>
                  <a:srgbClr val="263F50"/>
                </a:solidFill>
              </a:rPr>
              <a:t>Aggregate: A(z) = max over rules of min(αᵢⱼ, μoutput(z))</a:t>
            </a:r>
          </a:p>
        </p:txBody>
      </p:sp>
      <p:sp>
        <p:nvSpPr>
          <p:cNvPr id="5" name="">
            <a:extLst xmlns:a="http://schemas.openxmlformats.org/drawingml/2006/main">
              <a:ext uri="{FF2B5EF4-FFF2-40B4-BE49-F238E27FC236}">
                <a16:creationId xmlns:a16="http://schemas.microsoft.com/office/drawing/2014/main" id="{2FE90906-FDD9-47B6-A7E0-3769933B3B0A}"/>
              </a:ext>
            </a:extLst>
          </p:cNvPr>
          <p:cNvSpPr>
            <a:spLocks xmlns:a="http://schemas.openxmlformats.org/drawingml/2006/main" noGrp="1"/>
          </p:cNvSpPr>
          <p:nvPr/>
        </p:nvSpPr>
        <p:spPr>
          <a:xfrm xmlns:a="http://schemas.openxmlformats.org/drawingml/2006/main">
            <a:off x="666750" y="3629025"/>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F50"/>
                </a:solidFill>
              </a:defRPr>
            </a:defPPr>
          </a:lstStyle>
          <a:p xmlns:a="http://schemas.openxmlformats.org/drawingml/2006/main">
            <a:pPr>
              <a:defRPr sz="2175" b="0">
                <a:solidFill>
                  <a:srgbClr val="263F50"/>
                </a:solidFill>
              </a:defRPr>
            </a:pPr>
            <a:r>
              <a:rPr sz="2175" b="0">
                <a:solidFill>
                  <a:srgbClr val="263F50"/>
                </a:solidFill>
              </a:rPr>
              <a:t>Command: ∫ z A(z) dz / ∫ A(z) dz</a:t>
            </a:r>
          </a:p>
        </p:txBody>
      </p:sp>
      <p:sp>
        <p:nvSpPr>
          <p:cNvPr id="6" name="">
            <a:extLst xmlns:a="http://schemas.openxmlformats.org/drawingml/2006/main">
              <a:ext uri="{FF2B5EF4-FFF2-40B4-BE49-F238E27FC236}">
                <a16:creationId xmlns:a16="http://schemas.microsoft.com/office/drawing/2014/main" id="{BAAA86E5-F7E1-42A9-B05D-EB5DB8C89FEA}"/>
              </a:ext>
            </a:extLst>
          </p:cNvPr>
          <p:cNvSpPr>
            <a:spLocks xmlns:a="http://schemas.openxmlformats.org/drawingml/2006/main" noGrp="1"/>
          </p:cNvSpPr>
          <p:nvPr/>
        </p:nvSpPr>
        <p:spPr>
          <a:xfrm xmlns:a="http://schemas.openxmlformats.org/drawingml/2006/main">
            <a:off x="666750" y="47053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F50"/>
                </a:solidFill>
              </a:defRPr>
            </a:defPPr>
          </a:lstStyle>
          <a:p xmlns:a="http://schemas.openxmlformats.org/drawingml/2006/main">
            <a:pPr>
              <a:defRPr sz="2175" b="0">
                <a:solidFill>
                  <a:srgbClr val="263F50"/>
                </a:solidFill>
              </a:defRPr>
            </a:pPr>
            <a:r>
              <a:rPr sz="2175" b="0">
                <a:solidFill>
                  <a:srgbClr val="263F50"/>
                </a:solidFill>
              </a:rPr>
              <a:t>NumPy integration with a 0.1-point output grid. Invalid inputs raise ValueError.</a:t>
            </a:r>
          </a:p>
        </p:txBody>
      </p:sp>
    </p:spTree>
    <p:extLst>
      <p:ext uri="{BB962C8B-B14F-4D97-AF65-F5344CB8AC3E}">
        <p14:creationId xmlns:p14="http://schemas.microsoft.com/office/powerpoint/2010/main" val="603389272"/>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7418132-437F-4A63-AE14-EEDF1DDE90C4}"/>
              </a:ext>
            </a:extLst>
          </p:cNvPr>
          <p:cNvSpPr>
            <a:spLocks xmlns:a="http://schemas.openxmlformats.org/drawingml/2006/main" noGrp="1"/>
          </p:cNvSpPr>
          <p:nvPr/>
        </p:nvSpPr>
        <p:spPr>
          <a:xfrm xmlns:a="http://schemas.openxmlformats.org/drawingml/2006/main">
            <a:off x="609600" y="4095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047"/>
                </a:solidFill>
              </a:defRPr>
            </a:defPPr>
          </a:lstStyle>
          <a:p xmlns:a="http://schemas.openxmlformats.org/drawingml/2006/main">
            <a:pPr>
              <a:defRPr sz="3300" b="1">
                <a:solidFill>
                  <a:srgbClr val="123047"/>
                </a:solidFill>
              </a:defRPr>
            </a:pPr>
            <a:r>
              <a:rPr sz="3300" b="1">
                <a:solidFill>
                  <a:srgbClr val="123047"/>
                </a:solidFill>
              </a:rPr>
              <a:t>Worked Example: 30 °C, 80% RH</a:t>
            </a:r>
          </a:p>
        </p:txBody>
      </p:sp>
      <p:sp>
        <p:nvSpPr>
          <p:cNvPr id="2" name="">
            <a:extLst xmlns:a="http://schemas.openxmlformats.org/drawingml/2006/main">
              <a:ext uri="{FF2B5EF4-FFF2-40B4-BE49-F238E27FC236}">
                <a16:creationId xmlns:a16="http://schemas.microsoft.com/office/drawing/2014/main" id="{3B2D1AE4-9FFB-4E74-B700-61581C260905}"/>
              </a:ext>
            </a:extLst>
          </p:cNvPr>
          <p:cNvSpPr>
            <a:spLocks xmlns:a="http://schemas.openxmlformats.org/drawingml/2006/main" noGrp="1"/>
          </p:cNvSpPr>
          <p:nvPr/>
        </p:nvSpPr>
        <p:spPr>
          <a:xfrm xmlns:a="http://schemas.openxmlformats.org/drawingml/2006/main">
            <a:off x="10668000" y="63246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87F8C"/>
                </a:solidFill>
              </a:defRPr>
            </a:defPPr>
          </a:lstStyle>
          <a:p xmlns:a="http://schemas.openxmlformats.org/drawingml/2006/main">
            <a:pPr>
              <a:defRPr sz="1200" b="0">
                <a:solidFill>
                  <a:srgbClr val="087F8C"/>
                </a:solidFill>
              </a:defRPr>
            </a:pPr>
            <a:r>
              <a:rPr sz="1200" b="0">
                <a:solidFill>
                  <a:srgbClr val="087F8C"/>
                </a:solidFill>
              </a:rPr>
              <a:t>08  /  12</a:t>
            </a:r>
          </a:p>
        </p:txBody>
      </p:sp>
      <p:graphicFrame>
        <p:nvGraphicFramePr>
          <p:cNvPr id="3" name="">
            <a:extLst xmlns:a="http://schemas.openxmlformats.org/drawingml/2006/main">
              <a:ext uri="{FF2B5EF4-FFF2-40B4-BE49-F238E27FC236}">
                <a16:creationId xmlns:a16="http://schemas.microsoft.com/office/drawing/2014/main" id="{FC84297A-B70C-45F0-A749-2155369957D1}"/>
              </a:ext>
            </a:extLst>
          </p:cNvPr>
          <p:cNvGraphicFramePr/>
          <p:nvPr/>
        </p:nvGraphicFramePr>
        <p:xfrm>
          <a:off xmlns:a="http://schemas.openxmlformats.org/drawingml/2006/main" x="666750" y="1666875"/>
          <a:ext xmlns:a="http://schemas.openxmlformats.org/drawingml/2006/main" cx="10668000" cy="2238375"/>
        </p:xfrm>
        <a:graphic xmlns:a="http://schemas.openxmlformats.org/drawingml/2006/main">
          <a:graphicData uri="http://schemas.openxmlformats.org/drawingml/2006/table">
            <a:tbl>
              <a:tblPr/>
              <a:tblGrid>
                <a:gridCol w="2667000"/>
                <a:gridCol w="2667000"/>
                <a:gridCol w="2667000"/>
                <a:gridCol w="2667000"/>
              </a:tblGrid>
              <a:tr h="746125">
                <a:tc>
                  <a:txBody>
                    <a:bodyPr/>
                    <a:lstStyle/>
                    <a:p>
                      <a:r>
                        <a:rPr sz="2100" b="1">
                          <a:solidFill>
                            <a:srgbClr val="263F50"/>
                          </a:solidFill>
                        </a:rPr>
                        <a:t>Input</a:t>
                      </a:r>
                    </a:p>
                  </a:txBody>
                  <a:tcPr marL="91440" marR="91440" marT="45720" marB="45720">
                    <a:solidFill>
                      <a:srgbClr val="DCEFF1"/>
                    </a:solidFill>
                  </a:tcPr>
                </a:tc>
                <a:tc>
                  <a:txBody>
                    <a:bodyPr/>
                    <a:lstStyle/>
                    <a:p>
                      <a:r>
                        <a:rPr sz="2100" b="1">
                          <a:solidFill>
                            <a:srgbClr val="263F50"/>
                          </a:solidFill>
                        </a:rPr>
                        <a:t>Low</a:t>
                      </a:r>
                    </a:p>
                  </a:txBody>
                  <a:tcPr marL="91440" marR="91440" marT="45720" marB="45720">
                    <a:solidFill>
                      <a:srgbClr val="DCEFF1"/>
                    </a:solidFill>
                  </a:tcPr>
                </a:tc>
                <a:tc>
                  <a:txBody>
                    <a:bodyPr/>
                    <a:lstStyle/>
                    <a:p>
                      <a:r>
                        <a:rPr sz="2100" b="1">
                          <a:solidFill>
                            <a:srgbClr val="263F50"/>
                          </a:solidFill>
                        </a:rPr>
                        <a:t>Medium</a:t>
                      </a:r>
                    </a:p>
                  </a:txBody>
                  <a:tcPr marL="91440" marR="91440" marT="45720" marB="45720">
                    <a:solidFill>
                      <a:srgbClr val="DCEFF1"/>
                    </a:solidFill>
                  </a:tcPr>
                </a:tc>
                <a:tc>
                  <a:txBody>
                    <a:bodyPr/>
                    <a:lstStyle/>
                    <a:p>
                      <a:r>
                        <a:rPr sz="2100" b="1">
                          <a:solidFill>
                            <a:srgbClr val="263F50"/>
                          </a:solidFill>
                        </a:rPr>
                        <a:t>High</a:t>
                      </a:r>
                    </a:p>
                  </a:txBody>
                  <a:tcPr marL="91440" marR="91440" marT="45720" marB="45720">
                    <a:solidFill>
                      <a:srgbClr val="DCEFF1"/>
                    </a:solidFill>
                  </a:tcPr>
                </a:tc>
              </a:tr>
              <a:tr h="746125">
                <a:tc>
                  <a:txBody>
                    <a:bodyPr/>
                    <a:lstStyle/>
                    <a:p>
                      <a:r>
                        <a:rPr sz="2100" b="0">
                          <a:solidFill>
                            <a:srgbClr val="263F50"/>
                          </a:solidFill>
                        </a:rPr>
                        <a:t>30 °C</a:t>
                      </a:r>
                    </a:p>
                  </a:txBody>
                  <a:tcPr marL="91440" marR="91440" marT="45720" marB="45720">
                    <a:solidFill>
                      <a:srgbClr val="FFFFFF"/>
                    </a:solidFill>
                  </a:tcPr>
                </a:tc>
                <a:tc>
                  <a:txBody>
                    <a:bodyPr/>
                    <a:lstStyle/>
                    <a:p>
                      <a:r>
                        <a:rPr sz="2100" b="0">
                          <a:solidFill>
                            <a:srgbClr val="263F50"/>
                          </a:solidFill>
                        </a:rPr>
                        <a:t>0.000</a:t>
                      </a:r>
                    </a:p>
                  </a:txBody>
                  <a:tcPr marL="91440" marR="91440" marT="45720" marB="45720">
                    <a:solidFill>
                      <a:srgbClr val="FFFFFF"/>
                    </a:solidFill>
                  </a:tcPr>
                </a:tc>
                <a:tc>
                  <a:txBody>
                    <a:bodyPr/>
                    <a:lstStyle/>
                    <a:p>
                      <a:r>
                        <a:rPr sz="2100" b="0">
                          <a:solidFill>
                            <a:srgbClr val="263F50"/>
                          </a:solidFill>
                        </a:rPr>
                        <a:t>0.750</a:t>
                      </a:r>
                    </a:p>
                  </a:txBody>
                  <a:tcPr marL="91440" marR="91440" marT="45720" marB="45720">
                    <a:solidFill>
                      <a:srgbClr val="FFFFFF"/>
                    </a:solidFill>
                  </a:tcPr>
                </a:tc>
                <a:tc>
                  <a:txBody>
                    <a:bodyPr/>
                    <a:lstStyle/>
                    <a:p>
                      <a:r>
                        <a:rPr sz="2100" b="0">
                          <a:solidFill>
                            <a:srgbClr val="263F50"/>
                          </a:solidFill>
                        </a:rPr>
                        <a:t>0.091</a:t>
                      </a:r>
                    </a:p>
                  </a:txBody>
                  <a:tcPr marL="91440" marR="91440" marT="45720" marB="45720">
                    <a:solidFill>
                      <a:srgbClr val="FFFFFF"/>
                    </a:solidFill>
                  </a:tcPr>
                </a:tc>
              </a:tr>
              <a:tr h="746125">
                <a:tc>
                  <a:txBody>
                    <a:bodyPr/>
                    <a:lstStyle/>
                    <a:p>
                      <a:r>
                        <a:rPr sz="2100" b="0">
                          <a:solidFill>
                            <a:srgbClr val="263F50"/>
                          </a:solidFill>
                        </a:rPr>
                        <a:t>80% RH</a:t>
                      </a:r>
                    </a:p>
                  </a:txBody>
                  <a:tcPr marL="91440" marR="91440" marT="45720" marB="45720">
                    <a:solidFill>
                      <a:srgbClr val="FFFFFF"/>
                    </a:solidFill>
                  </a:tcPr>
                </a:tc>
                <a:tc>
                  <a:txBody>
                    <a:bodyPr/>
                    <a:lstStyle/>
                    <a:p>
                      <a:r>
                        <a:rPr sz="2100" b="0">
                          <a:solidFill>
                            <a:srgbClr val="263F50"/>
                          </a:solidFill>
                        </a:rPr>
                        <a:t>0.000</a:t>
                      </a:r>
                    </a:p>
                  </a:txBody>
                  <a:tcPr marL="91440" marR="91440" marT="45720" marB="45720">
                    <a:solidFill>
                      <a:srgbClr val="FFFFFF"/>
                    </a:solidFill>
                  </a:tcPr>
                </a:tc>
                <a:tc>
                  <a:txBody>
                    <a:bodyPr/>
                    <a:lstStyle/>
                    <a:p>
                      <a:r>
                        <a:rPr sz="2100" b="0">
                          <a:solidFill>
                            <a:srgbClr val="263F50"/>
                          </a:solidFill>
                        </a:rPr>
                        <a:t>0.200</a:t>
                      </a:r>
                    </a:p>
                  </a:txBody>
                  <a:tcPr marL="91440" marR="91440" marT="45720" marB="45720">
                    <a:solidFill>
                      <a:srgbClr val="FFFFFF"/>
                    </a:solidFill>
                  </a:tcPr>
                </a:tc>
                <a:tc>
                  <a:txBody>
                    <a:bodyPr/>
                    <a:lstStyle/>
                    <a:p>
                      <a:r>
                        <a:rPr sz="2100" b="0">
                          <a:solidFill>
                            <a:srgbClr val="263F50"/>
                          </a:solidFill>
                        </a:rPr>
                        <a:t>0.600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A6D2A1D-6963-43E1-98C8-F4AC9B5E13C8}"/>
              </a:ext>
            </a:extLst>
          </p:cNvPr>
          <p:cNvSpPr>
            <a:spLocks xmlns:a="http://schemas.openxmlformats.org/drawingml/2006/main" noGrp="1"/>
          </p:cNvSpPr>
          <p:nvPr/>
        </p:nvSpPr>
        <p:spPr>
          <a:xfrm xmlns:a="http://schemas.openxmlformats.org/drawingml/2006/main">
            <a:off x="666750" y="43148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F50"/>
                </a:solidFill>
              </a:defRPr>
            </a:defPPr>
          </a:lstStyle>
          <a:p xmlns:a="http://schemas.openxmlformats.org/drawingml/2006/main">
            <a:pPr>
              <a:defRPr sz="2100" b="0">
                <a:solidFill>
                  <a:srgbClr val="263F50"/>
                </a:solidFill>
              </a:defRPr>
            </a:pPr>
            <a:r>
              <a:rPr sz="2100" b="0">
                <a:solidFill>
                  <a:srgbClr val="263F50"/>
                </a:solidFill>
              </a:rPr>
              <a:t>Medium output clips at 0.200. High output clips at 0.600.</a:t>
            </a:r>
          </a:p>
        </p:txBody>
      </p:sp>
      <p:sp>
        <p:nvSpPr>
          <p:cNvPr id="5" name="">
            <a:extLst xmlns:a="http://schemas.openxmlformats.org/drawingml/2006/main">
              <a:ext uri="{FF2B5EF4-FFF2-40B4-BE49-F238E27FC236}">
                <a16:creationId xmlns:a16="http://schemas.microsoft.com/office/drawing/2014/main" id="{CB8E4656-3AD6-4B18-95FE-18112AB0B148}"/>
              </a:ext>
            </a:extLst>
          </p:cNvPr>
          <p:cNvSpPr>
            <a:spLocks xmlns:a="http://schemas.openxmlformats.org/drawingml/2006/main" noGrp="1"/>
          </p:cNvSpPr>
          <p:nvPr/>
        </p:nvSpPr>
        <p:spPr>
          <a:xfrm xmlns:a="http://schemas.openxmlformats.org/drawingml/2006/main">
            <a:off x="666750" y="51911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087F8C"/>
                </a:solidFill>
              </a:defRPr>
            </a:defPPr>
          </a:lstStyle>
          <a:p xmlns:a="http://schemas.openxmlformats.org/drawingml/2006/main">
            <a:pPr>
              <a:defRPr sz="3675" b="1">
                <a:solidFill>
                  <a:srgbClr val="087F8C"/>
                </a:solidFill>
              </a:defRPr>
            </a:pPr>
            <a:r>
              <a:rPr sz="3675" b="1">
                <a:solidFill>
                  <a:srgbClr val="087F8C"/>
                </a:solidFill>
              </a:rPr>
              <a:t>73.113% fan command</a:t>
            </a:r>
          </a:p>
        </p:txBody>
      </p:sp>
    </p:spTree>
    <p:extLst>
      <p:ext uri="{BB962C8B-B14F-4D97-AF65-F5344CB8AC3E}">
        <p14:creationId xmlns:p14="http://schemas.microsoft.com/office/powerpoint/2010/main" val="1051463776"/>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C77D03B-1FE1-4F39-B8A5-CA81297CF017}"/>
              </a:ext>
            </a:extLst>
          </p:cNvPr>
          <p:cNvSpPr>
            <a:spLocks xmlns:a="http://schemas.openxmlformats.org/drawingml/2006/main" noGrp="1"/>
          </p:cNvSpPr>
          <p:nvPr/>
        </p:nvSpPr>
        <p:spPr>
          <a:xfrm xmlns:a="http://schemas.openxmlformats.org/drawingml/2006/main">
            <a:off x="609600" y="4095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047"/>
                </a:solidFill>
              </a:defRPr>
            </a:defPPr>
          </a:lstStyle>
          <a:p xmlns:a="http://schemas.openxmlformats.org/drawingml/2006/main">
            <a:pPr>
              <a:defRPr sz="3300" b="1">
                <a:solidFill>
                  <a:srgbClr val="123047"/>
                </a:solidFill>
              </a:defRPr>
            </a:pPr>
            <a:r>
              <a:rPr sz="3300" b="1">
                <a:solidFill>
                  <a:srgbClr val="123047"/>
                </a:solidFill>
              </a:rPr>
              <a:t>Simulation Results</a:t>
            </a:r>
          </a:p>
        </p:txBody>
      </p:sp>
      <p:sp>
        <p:nvSpPr>
          <p:cNvPr id="2" name="">
            <a:extLst xmlns:a="http://schemas.openxmlformats.org/drawingml/2006/main">
              <a:ext uri="{FF2B5EF4-FFF2-40B4-BE49-F238E27FC236}">
                <a16:creationId xmlns:a16="http://schemas.microsoft.com/office/drawing/2014/main" id="{C9DEFEC3-62B6-44AA-8FFB-BF2221D6D123}"/>
              </a:ext>
            </a:extLst>
          </p:cNvPr>
          <p:cNvSpPr>
            <a:spLocks xmlns:a="http://schemas.openxmlformats.org/drawingml/2006/main" noGrp="1"/>
          </p:cNvSpPr>
          <p:nvPr/>
        </p:nvSpPr>
        <p:spPr>
          <a:xfrm xmlns:a="http://schemas.openxmlformats.org/drawingml/2006/main">
            <a:off x="10668000" y="63246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87F8C"/>
                </a:solidFill>
              </a:defRPr>
            </a:defPPr>
          </a:lstStyle>
          <a:p xmlns:a="http://schemas.openxmlformats.org/drawingml/2006/main">
            <a:pPr>
              <a:defRPr sz="1200" b="0">
                <a:solidFill>
                  <a:srgbClr val="087F8C"/>
                </a:solidFill>
              </a:defRPr>
            </a:pPr>
            <a:r>
              <a:rPr sz="1200" b="0">
                <a:solidFill>
                  <a:srgbClr val="087F8C"/>
                </a:solidFill>
              </a:rPr>
              <a:t>09  /  12</a:t>
            </a:r>
          </a:p>
        </p:txBody>
      </p:sp>
      <p:graphicFrame>
        <p:nvGraphicFramePr>
          <p:cNvPr id="3" name="">
            <a:extLst xmlns:a="http://schemas.openxmlformats.org/drawingml/2006/main">
              <a:ext uri="{FF2B5EF4-FFF2-40B4-BE49-F238E27FC236}">
                <a16:creationId xmlns:a16="http://schemas.microsoft.com/office/drawing/2014/main" id="{5659793E-DDDF-4AD4-B8D5-43847EE15CFD}"/>
              </a:ext>
            </a:extLst>
          </p:cNvPr>
          <p:cNvGraphicFramePr/>
          <p:nvPr/>
        </p:nvGraphicFramePr>
        <p:xfrm>
          <a:off xmlns:a="http://schemas.openxmlformats.org/drawingml/2006/main" x="666750" y="1524000"/>
          <a:ext xmlns:a="http://schemas.openxmlformats.org/drawingml/2006/main" cx="10668000" cy="4000500"/>
        </p:xfrm>
        <a:graphic xmlns:a="http://schemas.openxmlformats.org/drawingml/2006/main">
          <a:graphicData uri="http://schemas.openxmlformats.org/drawingml/2006/table">
            <a:tbl>
              <a:tblPr/>
              <a:tblGrid>
                <a:gridCol w="3556000"/>
                <a:gridCol w="3556000"/>
                <a:gridCol w="3556000"/>
              </a:tblGrid>
              <a:tr h="571500">
                <a:tc>
                  <a:txBody>
                    <a:bodyPr/>
                    <a:lstStyle/>
                    <a:p>
                      <a:r>
                        <a:rPr sz="2025" b="1">
                          <a:solidFill>
                            <a:srgbClr val="263F50"/>
                          </a:solidFill>
                        </a:rPr>
                        <a:t>Temperature (°C)</a:t>
                      </a:r>
                    </a:p>
                  </a:txBody>
                  <a:tcPr marL="91440" marR="91440" marT="45720" marB="45720">
                    <a:solidFill>
                      <a:srgbClr val="DCEFF1"/>
                    </a:solidFill>
                  </a:tcPr>
                </a:tc>
                <a:tc>
                  <a:txBody>
                    <a:bodyPr/>
                    <a:lstStyle/>
                    <a:p>
                      <a:r>
                        <a:rPr sz="2025" b="1">
                          <a:solidFill>
                            <a:srgbClr val="263F50"/>
                          </a:solidFill>
                        </a:rPr>
                        <a:t>Humidity (%RH)</a:t>
                      </a:r>
                    </a:p>
                  </a:txBody>
                  <a:tcPr marL="91440" marR="91440" marT="45720" marB="45720">
                    <a:solidFill>
                      <a:srgbClr val="DCEFF1"/>
                    </a:solidFill>
                  </a:tcPr>
                </a:tc>
                <a:tc>
                  <a:txBody>
                    <a:bodyPr/>
                    <a:lstStyle/>
                    <a:p>
                      <a:r>
                        <a:rPr sz="2025" b="1">
                          <a:solidFill>
                            <a:srgbClr val="263F50"/>
                          </a:solidFill>
                        </a:rPr>
                        <a:t>Command (%)</a:t>
                      </a:r>
                    </a:p>
                  </a:txBody>
                  <a:tcPr marL="91440" marR="91440" marT="45720" marB="45720">
                    <a:solidFill>
                      <a:srgbClr val="DCEFF1"/>
                    </a:solidFill>
                  </a:tcPr>
                </a:tc>
              </a:tr>
              <a:tr h="571500">
                <a:tc>
                  <a:txBody>
                    <a:bodyPr/>
                    <a:lstStyle/>
                    <a:p>
                      <a:r>
                        <a:rPr sz="2025" b="0">
                          <a:solidFill>
                            <a:srgbClr val="263F50"/>
                          </a:solidFill>
                        </a:rPr>
                        <a:t>15</a:t>
                      </a:r>
                    </a:p>
                  </a:txBody>
                  <a:tcPr marL="91440" marR="91440" marT="45720" marB="45720">
                    <a:solidFill>
                      <a:srgbClr val="FFFFFF"/>
                    </a:solidFill>
                  </a:tcPr>
                </a:tc>
                <a:tc>
                  <a:txBody>
                    <a:bodyPr/>
                    <a:lstStyle/>
                    <a:p>
                      <a:r>
                        <a:rPr sz="2025" b="0">
                          <a:solidFill>
                            <a:srgbClr val="263F50"/>
                          </a:solidFill>
                        </a:rPr>
                        <a:t>20</a:t>
                      </a:r>
                    </a:p>
                  </a:txBody>
                  <a:tcPr marL="91440" marR="91440" marT="45720" marB="45720">
                    <a:solidFill>
                      <a:srgbClr val="FFFFFF"/>
                    </a:solidFill>
                  </a:tcPr>
                </a:tc>
                <a:tc>
                  <a:txBody>
                    <a:bodyPr/>
                    <a:lstStyle/>
                    <a:p>
                      <a:r>
                        <a:rPr sz="2025" b="0">
                          <a:solidFill>
                            <a:srgbClr val="263F50"/>
                          </a:solidFill>
                        </a:rPr>
                        <a:t>16.667</a:t>
                      </a:r>
                    </a:p>
                  </a:txBody>
                  <a:tcPr marL="91440" marR="91440" marT="45720" marB="45720">
                    <a:solidFill>
                      <a:srgbClr val="FFFFFF"/>
                    </a:solidFill>
                  </a:tcPr>
                </a:tc>
              </a:tr>
              <a:tr h="571500">
                <a:tc>
                  <a:txBody>
                    <a:bodyPr/>
                    <a:lstStyle/>
                    <a:p>
                      <a:r>
                        <a:rPr sz="2025" b="0">
                          <a:solidFill>
                            <a:srgbClr val="263F50"/>
                          </a:solidFill>
                        </a:rPr>
                        <a:t>22</a:t>
                      </a:r>
                    </a:p>
                  </a:txBody>
                  <a:tcPr marL="91440" marR="91440" marT="45720" marB="45720">
                    <a:solidFill>
                      <a:srgbClr val="FFFFFF"/>
                    </a:solidFill>
                  </a:tcPr>
                </a:tc>
                <a:tc>
                  <a:txBody>
                    <a:bodyPr/>
                    <a:lstStyle/>
                    <a:p>
                      <a:r>
                        <a:rPr sz="2025" b="0">
                          <a:solidFill>
                            <a:srgbClr val="263F50"/>
                          </a:solidFill>
                        </a:rPr>
                        <a:t>40</a:t>
                      </a:r>
                    </a:p>
                  </a:txBody>
                  <a:tcPr marL="91440" marR="91440" marT="45720" marB="45720">
                    <a:solidFill>
                      <a:srgbClr val="FFFFFF"/>
                    </a:solidFill>
                  </a:tcPr>
                </a:tc>
                <a:tc>
                  <a:txBody>
                    <a:bodyPr/>
                    <a:lstStyle/>
                    <a:p>
                      <a:r>
                        <a:rPr sz="2025" b="0">
                          <a:solidFill>
                            <a:srgbClr val="263F50"/>
                          </a:solidFill>
                        </a:rPr>
                        <a:t>29.848</a:t>
                      </a:r>
                    </a:p>
                  </a:txBody>
                  <a:tcPr marL="91440" marR="91440" marT="45720" marB="45720">
                    <a:solidFill>
                      <a:srgbClr val="FFFFFF"/>
                    </a:solidFill>
                  </a:tcPr>
                </a:tc>
              </a:tr>
              <a:tr h="571500">
                <a:tc>
                  <a:txBody>
                    <a:bodyPr/>
                    <a:lstStyle/>
                    <a:p>
                      <a:r>
                        <a:rPr sz="2025" b="0">
                          <a:solidFill>
                            <a:srgbClr val="263F50"/>
                          </a:solidFill>
                        </a:rPr>
                        <a:t>28</a:t>
                      </a:r>
                    </a:p>
                  </a:txBody>
                  <a:tcPr marL="91440" marR="91440" marT="45720" marB="45720">
                    <a:solidFill>
                      <a:srgbClr val="FFFFFF"/>
                    </a:solidFill>
                  </a:tcPr>
                </a:tc>
                <a:tc>
                  <a:txBody>
                    <a:bodyPr/>
                    <a:lstStyle/>
                    <a:p>
                      <a:r>
                        <a:rPr sz="2025" b="0">
                          <a:solidFill>
                            <a:srgbClr val="263F50"/>
                          </a:solidFill>
                        </a:rPr>
                        <a:t>60</a:t>
                      </a:r>
                    </a:p>
                  </a:txBody>
                  <a:tcPr marL="91440" marR="91440" marT="45720" marB="45720">
                    <a:solidFill>
                      <a:srgbClr val="FFFFFF"/>
                    </a:solidFill>
                  </a:tcPr>
                </a:tc>
                <a:tc>
                  <a:txBody>
                    <a:bodyPr/>
                    <a:lstStyle/>
                    <a:p>
                      <a:r>
                        <a:rPr sz="2025" b="0">
                          <a:solidFill>
                            <a:srgbClr val="263F50"/>
                          </a:solidFill>
                        </a:rPr>
                        <a:t>50</a:t>
                      </a:r>
                    </a:p>
                  </a:txBody>
                  <a:tcPr marL="91440" marR="91440" marT="45720" marB="45720">
                    <a:solidFill>
                      <a:srgbClr val="FFFFFF"/>
                    </a:solidFill>
                  </a:tcPr>
                </a:tc>
              </a:tr>
              <a:tr h="571500">
                <a:tc>
                  <a:txBody>
                    <a:bodyPr/>
                    <a:lstStyle/>
                    <a:p>
                      <a:r>
                        <a:rPr sz="2025" b="0">
                          <a:solidFill>
                            <a:srgbClr val="263F50"/>
                          </a:solidFill>
                        </a:rPr>
                        <a:t>30</a:t>
                      </a:r>
                    </a:p>
                  </a:txBody>
                  <a:tcPr marL="91440" marR="91440" marT="45720" marB="45720">
                    <a:solidFill>
                      <a:srgbClr val="FFFFFF"/>
                    </a:solidFill>
                  </a:tcPr>
                </a:tc>
                <a:tc>
                  <a:txBody>
                    <a:bodyPr/>
                    <a:lstStyle/>
                    <a:p>
                      <a:r>
                        <a:rPr sz="2025" b="0">
                          <a:solidFill>
                            <a:srgbClr val="263F50"/>
                          </a:solidFill>
                        </a:rPr>
                        <a:t>80</a:t>
                      </a:r>
                    </a:p>
                  </a:txBody>
                  <a:tcPr marL="91440" marR="91440" marT="45720" marB="45720">
                    <a:solidFill>
                      <a:srgbClr val="FFFFFF"/>
                    </a:solidFill>
                  </a:tcPr>
                </a:tc>
                <a:tc>
                  <a:txBody>
                    <a:bodyPr/>
                    <a:lstStyle/>
                    <a:p>
                      <a:r>
                        <a:rPr sz="2025" b="0">
                          <a:solidFill>
                            <a:srgbClr val="263F50"/>
                          </a:solidFill>
                        </a:rPr>
                        <a:t>73.113</a:t>
                      </a:r>
                    </a:p>
                  </a:txBody>
                  <a:tcPr marL="91440" marR="91440" marT="45720" marB="45720">
                    <a:solidFill>
                      <a:srgbClr val="FFFFFF"/>
                    </a:solidFill>
                  </a:tcPr>
                </a:tc>
              </a:tr>
              <a:tr h="571500">
                <a:tc>
                  <a:txBody>
                    <a:bodyPr/>
                    <a:lstStyle/>
                    <a:p>
                      <a:r>
                        <a:rPr sz="2025" b="0">
                          <a:solidFill>
                            <a:srgbClr val="263F50"/>
                          </a:solidFill>
                        </a:rPr>
                        <a:t>35</a:t>
                      </a:r>
                    </a:p>
                  </a:txBody>
                  <a:tcPr marL="91440" marR="91440" marT="45720" marB="45720">
                    <a:solidFill>
                      <a:srgbClr val="FFFFFF"/>
                    </a:solidFill>
                  </a:tcPr>
                </a:tc>
                <a:tc>
                  <a:txBody>
                    <a:bodyPr/>
                    <a:lstStyle/>
                    <a:p>
                      <a:r>
                        <a:rPr sz="2025" b="0">
                          <a:solidFill>
                            <a:srgbClr val="263F50"/>
                          </a:solidFill>
                        </a:rPr>
                        <a:t>50</a:t>
                      </a:r>
                    </a:p>
                  </a:txBody>
                  <a:tcPr marL="91440" marR="91440" marT="45720" marB="45720">
                    <a:solidFill>
                      <a:srgbClr val="FFFFFF"/>
                    </a:solidFill>
                  </a:tcPr>
                </a:tc>
                <a:tc>
                  <a:txBody>
                    <a:bodyPr/>
                    <a:lstStyle/>
                    <a:p>
                      <a:r>
                        <a:rPr sz="2025" b="0">
                          <a:solidFill>
                            <a:srgbClr val="263F50"/>
                          </a:solidFill>
                        </a:rPr>
                        <a:t>67.328</a:t>
                      </a:r>
                    </a:p>
                  </a:txBody>
                  <a:tcPr marL="91440" marR="91440" marT="45720" marB="45720">
                    <a:solidFill>
                      <a:srgbClr val="FFFFFF"/>
                    </a:solidFill>
                  </a:tcPr>
                </a:tc>
              </a:tr>
              <a:tr h="571500">
                <a:tc>
                  <a:txBody>
                    <a:bodyPr/>
                    <a:lstStyle/>
                    <a:p>
                      <a:r>
                        <a:rPr sz="2025" b="0">
                          <a:solidFill>
                            <a:srgbClr val="263F50"/>
                          </a:solidFill>
                        </a:rPr>
                        <a:t>40</a:t>
                      </a:r>
                    </a:p>
                  </a:txBody>
                  <a:tcPr marL="91440" marR="91440" marT="45720" marB="45720">
                    <a:solidFill>
                      <a:srgbClr val="FFFFFF"/>
                    </a:solidFill>
                  </a:tcPr>
                </a:tc>
                <a:tc>
                  <a:txBody>
                    <a:bodyPr/>
                    <a:lstStyle/>
                    <a:p>
                      <a:r>
                        <a:rPr sz="2025" b="0">
                          <a:solidFill>
                            <a:srgbClr val="263F50"/>
                          </a:solidFill>
                        </a:rPr>
                        <a:t>90</a:t>
                      </a:r>
                    </a:p>
                  </a:txBody>
                  <a:tcPr marL="91440" marR="91440" marT="45720" marB="45720">
                    <a:solidFill>
                      <a:srgbClr val="FFFFFF"/>
                    </a:solidFill>
                  </a:tcPr>
                </a:tc>
                <a:tc>
                  <a:txBody>
                    <a:bodyPr/>
                    <a:lstStyle/>
                    <a:p>
                      <a:r>
                        <a:rPr sz="2025" b="0">
                          <a:solidFill>
                            <a:srgbClr val="263F50"/>
                          </a:solidFill>
                        </a:rPr>
                        <a:t>83.333</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DC424E8-F678-47C6-A2CA-D8C71DFD96EC}"/>
              </a:ext>
            </a:extLst>
          </p:cNvPr>
          <p:cNvSpPr>
            <a:spLocks xmlns:a="http://schemas.openxmlformats.org/drawingml/2006/main" noGrp="1"/>
          </p:cNvSpPr>
          <p:nvPr/>
        </p:nvSpPr>
        <p:spPr>
          <a:xfrm xmlns:a="http://schemas.openxmlformats.org/drawingml/2006/main">
            <a:off x="666750" y="58007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87F8C"/>
                </a:solidFill>
              </a:defRPr>
            </a:defPPr>
          </a:lstStyle>
          <a:p xmlns:a="http://schemas.openxmlformats.org/drawingml/2006/main">
            <a:pPr>
              <a:defRPr sz="1800" b="0">
                <a:solidFill>
                  <a:srgbClr val="087F8C"/>
                </a:solidFill>
              </a:defRPr>
            </a:pPr>
            <a:r>
              <a:rPr sz="1800" b="0">
                <a:solidFill>
                  <a:srgbClr val="087F8C"/>
                </a:solidFill>
              </a:rPr>
              <a:t>Low/high shoulder centroids limit this design to about 16.67–83.33%.</a:t>
            </a:r>
          </a:p>
        </p:txBody>
      </p:sp>
    </p:spTree>
    <p:extLst>
      <p:ext uri="{BB962C8B-B14F-4D97-AF65-F5344CB8AC3E}">
        <p14:creationId xmlns:p14="http://schemas.microsoft.com/office/powerpoint/2010/main" val="1915139038"/>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491C90F-5136-46A8-9557-DAA692D32EBB}"/>
              </a:ext>
            </a:extLst>
          </p:cNvPr>
          <p:cNvSpPr>
            <a:spLocks xmlns:a="http://schemas.openxmlformats.org/drawingml/2006/main" noGrp="1"/>
          </p:cNvSpPr>
          <p:nvPr/>
        </p:nvSpPr>
        <p:spPr>
          <a:xfrm xmlns:a="http://schemas.openxmlformats.org/drawingml/2006/main">
            <a:off x="609600" y="4095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047"/>
                </a:solidFill>
              </a:defRPr>
            </a:defPPr>
          </a:lstStyle>
          <a:p xmlns:a="http://schemas.openxmlformats.org/drawingml/2006/main">
            <a:pPr>
              <a:defRPr sz="3300" b="1">
                <a:solidFill>
                  <a:srgbClr val="123047"/>
                </a:solidFill>
              </a:defRPr>
            </a:pPr>
            <a:r>
              <a:rPr sz="3300" b="1">
                <a:solidFill>
                  <a:srgbClr val="123047"/>
                </a:solidFill>
              </a:rPr>
              <a:t>Analysis and Verification</a:t>
            </a:r>
          </a:p>
        </p:txBody>
      </p:sp>
      <p:sp>
        <p:nvSpPr>
          <p:cNvPr id="2" name="">
            <a:extLst xmlns:a="http://schemas.openxmlformats.org/drawingml/2006/main">
              <a:ext uri="{FF2B5EF4-FFF2-40B4-BE49-F238E27FC236}">
                <a16:creationId xmlns:a16="http://schemas.microsoft.com/office/drawing/2014/main" id="{8CC8A948-160F-48FB-85D5-52A7AE007C52}"/>
              </a:ext>
            </a:extLst>
          </p:cNvPr>
          <p:cNvSpPr>
            <a:spLocks xmlns:a="http://schemas.openxmlformats.org/drawingml/2006/main" noGrp="1"/>
          </p:cNvSpPr>
          <p:nvPr/>
        </p:nvSpPr>
        <p:spPr>
          <a:xfrm xmlns:a="http://schemas.openxmlformats.org/drawingml/2006/main">
            <a:off x="10668000" y="63246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87F8C"/>
                </a:solidFill>
              </a:defRPr>
            </a:defPPr>
          </a:lstStyle>
          <a:p xmlns:a="http://schemas.openxmlformats.org/drawingml/2006/main">
            <a:pPr>
              <a:defRPr sz="1200" b="0">
                <a:solidFill>
                  <a:srgbClr val="087F8C"/>
                </a:solidFill>
              </a:defRPr>
            </a:pPr>
            <a:r>
              <a:rPr sz="1200" b="0">
                <a:solidFill>
                  <a:srgbClr val="087F8C"/>
                </a:solidFill>
              </a:rPr>
              <a:t>10  /  12</a:t>
            </a:r>
          </a:p>
        </p:txBody>
      </p:sp>
      <p:graphicFrame>
        <p:nvGraphicFramePr>
          <p:cNvPr id="3" name="Chart">
            <a:extLst xmlns:a="http://schemas.openxmlformats.org/drawingml/2006/main">
              <a:ext uri="{FF2B5EF4-FFF2-40B4-BE49-F238E27FC236}">
                <a16:creationId xmlns:a16="http://schemas.microsoft.com/office/drawing/2014/main" id="{D862637A-CFB5-4070-A237-BCD344D0D969}"/>
              </a:ext>
            </a:extLst>
          </p:cNvPr>
          <p:cNvGraphicFramePr/>
          <p:nvPr/>
        </p:nvGraphicFramePr>
        <p:xfrm>
          <a:off xmlns:a="http://schemas.openxmlformats.org/drawingml/2006/main" x="666750" y="1476375"/>
          <a:ext xmlns:a="http://schemas.openxmlformats.org/drawingml/2006/main" cx="7334250" cy="4095750"/>
        </p:xfrm>
        <a:graphic xmlns:a="http://schemas.openxmlformats.org/drawingml/2006/main">
          <a:graphicData uri="http://schemas.openxmlformats.org/drawingml/2006/chart">
            <c:chart xmlns:r="http://schemas.openxmlformats.org/officeDocument/2006/relationships" xmlns:c="http://schemas.openxmlformats.org/drawingml/2006/chart" r:id="R9a6d1a67316a41d6"/>
          </a:graphicData>
        </a:graphic>
      </p:graphicFrame>
      <p:sp>
        <p:nvSpPr>
          <p:cNvPr id="4" name="">
            <a:extLst xmlns:a="http://schemas.openxmlformats.org/drawingml/2006/main">
              <a:ext uri="{FF2B5EF4-FFF2-40B4-BE49-F238E27FC236}">
                <a16:creationId xmlns:a16="http://schemas.microsoft.com/office/drawing/2014/main" id="{D60F856C-0035-441F-9263-34B3E2A030B9}"/>
              </a:ext>
            </a:extLst>
          </p:cNvPr>
          <p:cNvSpPr>
            <a:spLocks xmlns:a="http://schemas.openxmlformats.org/drawingml/2006/main" noGrp="1"/>
          </p:cNvSpPr>
          <p:nvPr/>
        </p:nvSpPr>
        <p:spPr>
          <a:xfrm xmlns:a="http://schemas.openxmlformats.org/drawingml/2006/main">
            <a:off x="2571750" y="56769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63F50"/>
                </a:solidFill>
              </a:defRPr>
            </a:defPPr>
          </a:lstStyle>
          <a:p xmlns:a="http://schemas.openxmlformats.org/drawingml/2006/main">
            <a:pPr>
              <a:defRPr sz="1725" b="0">
                <a:solidFill>
                  <a:srgbClr val="263F50"/>
                </a:solidFill>
              </a:defRPr>
            </a:pPr>
            <a:r>
              <a:rPr sz="1725" b="0">
                <a:solidFill>
                  <a:srgbClr val="263F50"/>
                </a:solidFill>
              </a:rPr>
              <a:t>Temperature (°C)</a:t>
            </a:r>
          </a:p>
        </p:txBody>
      </p:sp>
      <p:sp>
        <p:nvSpPr>
          <p:cNvPr id="5" name="">
            <a:extLst xmlns:a="http://schemas.openxmlformats.org/drawingml/2006/main">
              <a:ext uri="{FF2B5EF4-FFF2-40B4-BE49-F238E27FC236}">
                <a16:creationId xmlns:a16="http://schemas.microsoft.com/office/drawing/2014/main" id="{F4F5C38C-049A-44FC-B443-8847513F0602}"/>
              </a:ext>
            </a:extLst>
          </p:cNvPr>
          <p:cNvSpPr>
            <a:spLocks xmlns:a="http://schemas.openxmlformats.org/drawingml/2006/main" noGrp="1"/>
          </p:cNvSpPr>
          <p:nvPr/>
        </p:nvSpPr>
        <p:spPr>
          <a:xfrm xmlns:a="http://schemas.openxmlformats.org/drawingml/2006/main">
            <a:off x="8334375" y="1714500"/>
            <a:ext cx="3143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63F50"/>
                </a:solidFill>
              </a:defRPr>
            </a:defPPr>
          </a:lstStyle>
          <a:p xmlns:a="http://schemas.openxmlformats.org/drawingml/2006/main">
            <a:pPr>
              <a:defRPr sz="1875" b="0">
                <a:solidFill>
                  <a:srgbClr val="263F50"/>
                </a:solidFill>
              </a:defRPr>
            </a:pPr>
            <a:r>
              <a:rPr sz="1875" b="0">
                <a:solidFill>
                  <a:srgbClr val="263F50"/>
                </a:solidFill>
              </a:rPr>
              <a:t>1,479 valid grid outputs</a:t>
            </a:r>
          </a:p>
          <a:p xmlns:a="http://schemas.openxmlformats.org/drawingml/2006/main">
            <a:r>
              <a:t/>
            </a:r>
          </a:p>
          <a:p xmlns:a="http://schemas.openxmlformats.org/drawingml/2006/main">
            <a:pPr>
              <a:defRPr sz="1875" b="0">
                <a:solidFill>
                  <a:srgbClr val="263F50"/>
                </a:solidFill>
              </a:defRPr>
            </a:pPr>
            <a:r>
              <a:rPr sz="1875" b="0">
                <a:solidFill>
                  <a:srgbClr val="263F50"/>
                </a:solidFill>
              </a:rPr>
              <a:t>Local decreases:</a:t>
            </a:r>
          </a:p>
          <a:p xmlns:a="http://schemas.openxmlformats.org/drawingml/2006/main">
            <a:pPr>
              <a:defRPr sz="1875" b="0">
                <a:solidFill>
                  <a:srgbClr val="263F50"/>
                </a:solidFill>
              </a:defRPr>
            </a:pPr>
            <a:r>
              <a:rPr sz="1875" b="0">
                <a:solidFill>
                  <a:srgbClr val="263F50"/>
                </a:solidFill>
              </a:rPr>
              <a:t>1.358 points / 0.5 °C</a:t>
            </a:r>
          </a:p>
          <a:p xmlns:a="http://schemas.openxmlformats.org/drawingml/2006/main">
            <a:pPr>
              <a:defRPr sz="1875" b="0">
                <a:solidFill>
                  <a:srgbClr val="263F50"/>
                </a:solidFill>
              </a:defRPr>
            </a:pPr>
            <a:r>
              <a:rPr sz="1875" b="0">
                <a:solidFill>
                  <a:srgbClr val="263F50"/>
                </a:solidFill>
              </a:rPr>
              <a:t>2.387 points / 2.5% RH</a:t>
            </a:r>
          </a:p>
          <a:p xmlns:a="http://schemas.openxmlformats.org/drawingml/2006/main">
            <a:r>
              <a:t/>
            </a:r>
          </a:p>
          <a:p xmlns:a="http://schemas.openxmlformats.org/drawingml/2006/main">
            <a:pPr>
              <a:defRPr sz="1875" b="0">
                <a:solidFill>
                  <a:srgbClr val="263F50"/>
                </a:solidFill>
              </a:defRPr>
            </a:pPr>
            <a:r>
              <a:rPr sz="1875" b="0">
                <a:solidFill>
                  <a:srgbClr val="263F50"/>
                </a:solidFill>
              </a:rPr>
              <a:t>No measured energy or comfort data</a:t>
            </a:r>
          </a:p>
        </p:txBody>
      </p:sp>
    </p:spTree>
    <p:extLst>
      <p:ext uri="{BB962C8B-B14F-4D97-AF65-F5344CB8AC3E}">
        <p14:creationId xmlns:p14="http://schemas.microsoft.com/office/powerpoint/2010/main" val="1038031074"/>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83FDD5-48E2-44D9-B7A7-D70BD86F62F8}"/>
              </a:ext>
            </a:extLst>
          </p:cNvPr>
          <p:cNvSpPr>
            <a:spLocks xmlns:a="http://schemas.openxmlformats.org/drawingml/2006/main" noGrp="1"/>
          </p:cNvSpPr>
          <p:nvPr/>
        </p:nvSpPr>
        <p:spPr>
          <a:xfrm xmlns:a="http://schemas.openxmlformats.org/drawingml/2006/main">
            <a:off x="609600" y="4095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047"/>
                </a:solidFill>
              </a:defRPr>
            </a:defPPr>
          </a:lstStyle>
          <a:p xmlns:a="http://schemas.openxmlformats.org/drawingml/2006/main">
            <a:pPr>
              <a:defRPr sz="3300" b="1">
                <a:solidFill>
                  <a:srgbClr val="123047"/>
                </a:solidFill>
              </a:defRPr>
            </a:pPr>
            <a:r>
              <a:rPr sz="3300" b="1">
                <a:solidFill>
                  <a:srgbClr val="123047"/>
                </a:solidFill>
              </a:rPr>
              <a:t>Genetic Programming</a:t>
            </a:r>
          </a:p>
        </p:txBody>
      </p:sp>
      <p:sp>
        <p:nvSpPr>
          <p:cNvPr id="2" name="">
            <a:extLst xmlns:a="http://schemas.openxmlformats.org/drawingml/2006/main">
              <a:ext uri="{FF2B5EF4-FFF2-40B4-BE49-F238E27FC236}">
                <a16:creationId xmlns:a16="http://schemas.microsoft.com/office/drawing/2014/main" id="{5DA3B64E-43AA-4CD2-9830-7DC6C2F07500}"/>
              </a:ext>
            </a:extLst>
          </p:cNvPr>
          <p:cNvSpPr>
            <a:spLocks xmlns:a="http://schemas.openxmlformats.org/drawingml/2006/main" noGrp="1"/>
          </p:cNvSpPr>
          <p:nvPr/>
        </p:nvSpPr>
        <p:spPr>
          <a:xfrm xmlns:a="http://schemas.openxmlformats.org/drawingml/2006/main">
            <a:off x="10668000" y="63246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87F8C"/>
                </a:solidFill>
              </a:defRPr>
            </a:defPPr>
          </a:lstStyle>
          <a:p xmlns:a="http://schemas.openxmlformats.org/drawingml/2006/main">
            <a:pPr>
              <a:defRPr sz="1200" b="0">
                <a:solidFill>
                  <a:srgbClr val="087F8C"/>
                </a:solidFill>
              </a:defRPr>
            </a:pPr>
            <a:r>
              <a:rPr sz="1200" b="0">
                <a:solidFill>
                  <a:srgbClr val="087F8C"/>
                </a:solidFill>
              </a:rPr>
              <a:t>11  /  12</a:t>
            </a:r>
          </a:p>
        </p:txBody>
      </p:sp>
      <p:sp>
        <p:nvSpPr>
          <p:cNvPr id="3" name="">
            <a:extLst xmlns:a="http://schemas.openxmlformats.org/drawingml/2006/main">
              <a:ext uri="{FF2B5EF4-FFF2-40B4-BE49-F238E27FC236}">
                <a16:creationId xmlns:a16="http://schemas.microsoft.com/office/drawing/2014/main" id="{4E2B2DC2-9559-4CF4-AD94-F23243BEA461}"/>
              </a:ext>
            </a:extLst>
          </p:cNvPr>
          <p:cNvSpPr>
            <a:spLocks xmlns:a="http://schemas.openxmlformats.org/drawingml/2006/main" noGrp="1"/>
          </p:cNvSpPr>
          <p:nvPr/>
        </p:nvSpPr>
        <p:spPr>
          <a:xfrm xmlns:a="http://schemas.openxmlformats.org/drawingml/2006/main">
            <a:off x="666750" y="15240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F50"/>
                </a:solidFill>
              </a:defRPr>
            </a:defPPr>
          </a:lstStyle>
          <a:p xmlns:a="http://schemas.openxmlformats.org/drawingml/2006/main">
            <a:pPr>
              <a:defRPr sz="2175" b="0">
                <a:solidFill>
                  <a:srgbClr val="263F50"/>
                </a:solidFill>
              </a:defRPr>
            </a:pPr>
            <a:r>
              <a:rPr sz="2175" b="0">
                <a:solidFill>
                  <a:srgbClr val="263F50"/>
                </a:solidFill>
              </a:rPr>
              <a:t>Expression trees with +, −, ×, min and max. Inputs normalize to 0–1.</a:t>
            </a:r>
          </a:p>
        </p:txBody>
      </p:sp>
      <p:sp>
        <p:nvSpPr>
          <p:cNvPr id="4" name="">
            <a:extLst xmlns:a="http://schemas.openxmlformats.org/drawingml/2006/main">
              <a:ext uri="{FF2B5EF4-FFF2-40B4-BE49-F238E27FC236}">
                <a16:creationId xmlns:a16="http://schemas.microsoft.com/office/drawing/2014/main" id="{F84C7711-FE99-4F06-9890-2D50763D6184}"/>
              </a:ext>
            </a:extLst>
          </p:cNvPr>
          <p:cNvSpPr>
            <a:spLocks xmlns:a="http://schemas.openxmlformats.org/drawingml/2006/main" noGrp="1"/>
          </p:cNvSpPr>
          <p:nvPr/>
        </p:nvSpPr>
        <p:spPr>
          <a:xfrm xmlns:a="http://schemas.openxmlformats.org/drawingml/2006/main">
            <a:off x="666750" y="2524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F50"/>
                </a:solidFill>
              </a:defRPr>
            </a:defPPr>
          </a:lstStyle>
          <a:p xmlns:a="http://schemas.openxmlformats.org/drawingml/2006/main">
            <a:pPr>
              <a:defRPr sz="2175" b="0">
                <a:solidFill>
                  <a:srgbClr val="263F50"/>
                </a:solidFill>
              </a:defRPr>
            </a:pPr>
            <a:r>
              <a:rPr sz="2175" b="0">
                <a:solidFill>
                  <a:srgbClr val="263F50"/>
                </a:solidFill>
              </a:rPr>
              <a:t>100 trees, 40 generations, seed 71. Tournament selection and subtree variation.</a:t>
            </a:r>
          </a:p>
        </p:txBody>
      </p:sp>
      <p:sp>
        <p:nvSpPr>
          <p:cNvPr id="5" name="">
            <a:extLst xmlns:a="http://schemas.openxmlformats.org/drawingml/2006/main">
              <a:ext uri="{FF2B5EF4-FFF2-40B4-BE49-F238E27FC236}">
                <a16:creationId xmlns:a16="http://schemas.microsoft.com/office/drawing/2014/main" id="{45C21716-1047-4D82-92F6-0042A709943E}"/>
              </a:ext>
            </a:extLst>
          </p:cNvPr>
          <p:cNvSpPr>
            <a:spLocks xmlns:a="http://schemas.openxmlformats.org/drawingml/2006/main" noGrp="1"/>
          </p:cNvSpPr>
          <p:nvPr/>
        </p:nvSpPr>
        <p:spPr>
          <a:xfrm xmlns:a="http://schemas.openxmlformats.org/drawingml/2006/main">
            <a:off x="666750" y="35242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F50"/>
                </a:solidFill>
              </a:defRPr>
            </a:defPPr>
          </a:lstStyle>
          <a:p xmlns:a="http://schemas.openxmlformats.org/drawingml/2006/main">
            <a:pPr>
              <a:defRPr sz="2175" b="0">
                <a:solidFill>
                  <a:srgbClr val="263F50"/>
                </a:solidFill>
              </a:defRPr>
            </a:pPr>
            <a:r>
              <a:rPr sz="2175" b="0">
                <a:solidFill>
                  <a:srgbClr val="263F50"/>
                </a:solidFill>
              </a:rPr>
              <a:t>85 training points + 36 held-out test points from an 11 × 11 grid.</a:t>
            </a:r>
          </a:p>
        </p:txBody>
      </p:sp>
      <p:sp>
        <p:nvSpPr>
          <p:cNvPr id="6" name="">
            <a:extLst xmlns:a="http://schemas.openxmlformats.org/drawingml/2006/main">
              <a:ext uri="{FF2B5EF4-FFF2-40B4-BE49-F238E27FC236}">
                <a16:creationId xmlns:a16="http://schemas.microsoft.com/office/drawing/2014/main" id="{35DA5B9D-F8F4-4CBC-89D8-F1585094659C}"/>
              </a:ext>
            </a:extLst>
          </p:cNvPr>
          <p:cNvSpPr>
            <a:spLocks xmlns:a="http://schemas.openxmlformats.org/drawingml/2006/main" noGrp="1"/>
          </p:cNvSpPr>
          <p:nvPr/>
        </p:nvSpPr>
        <p:spPr>
          <a:xfrm xmlns:a="http://schemas.openxmlformats.org/drawingml/2006/main">
            <a:off x="666750" y="452437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F50"/>
                </a:solidFill>
              </a:defRPr>
            </a:defPPr>
          </a:lstStyle>
          <a:p xmlns:a="http://schemas.openxmlformats.org/drawingml/2006/main">
            <a:pPr>
              <a:defRPr sz="2175" b="0">
                <a:solidFill>
                  <a:srgbClr val="263F50"/>
                </a:solidFill>
              </a:defRPr>
            </a:pPr>
            <a:r>
              <a:rPr sz="2175" b="0">
                <a:solidFill>
                  <a:srgbClr val="263F50"/>
                </a:solidFill>
              </a:rPr>
              <a:t>Training RMSE: 9.215 points. Test RMSE: 9.431 points.</a:t>
            </a:r>
          </a:p>
        </p:txBody>
      </p:sp>
      <p:sp>
        <p:nvSpPr>
          <p:cNvPr id="7" name="">
            <a:extLst xmlns:a="http://schemas.openxmlformats.org/drawingml/2006/main">
              <a:ext uri="{FF2B5EF4-FFF2-40B4-BE49-F238E27FC236}">
                <a16:creationId xmlns:a16="http://schemas.microsoft.com/office/drawing/2014/main" id="{0600494C-FAFC-4836-B09E-11CC38A3B778}"/>
              </a:ext>
            </a:extLst>
          </p:cNvPr>
          <p:cNvSpPr>
            <a:spLocks xmlns:a="http://schemas.openxmlformats.org/drawingml/2006/main" noGrp="1"/>
          </p:cNvSpPr>
          <p:nvPr/>
        </p:nvSpPr>
        <p:spPr>
          <a:xfrm xmlns:a="http://schemas.openxmlformats.org/drawingml/2006/main">
            <a:off x="666750" y="56673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87F8C"/>
                </a:solidFill>
              </a:defRPr>
            </a:defPPr>
          </a:lstStyle>
          <a:p xmlns:a="http://schemas.openxmlformats.org/drawingml/2006/main">
            <a:pPr>
              <a:defRPr sz="1800" b="0">
                <a:solidFill>
                  <a:srgbClr val="087F8C"/>
                </a:solidFill>
              </a:defRPr>
            </a:pPr>
            <a:r>
              <a:rPr sz="1800" b="0">
                <a:solidFill>
                  <a:srgbClr val="087F8C"/>
                </a:solidFill>
              </a:rPr>
              <a:t>Approximation of synthetic fuzzy labels. The main controller remains the nine-rule model.</a:t>
            </a:r>
          </a:p>
        </p:txBody>
      </p:sp>
    </p:spTree>
    <p:extLst>
      <p:ext uri="{BB962C8B-B14F-4D97-AF65-F5344CB8AC3E}">
        <p14:creationId xmlns:p14="http://schemas.microsoft.com/office/powerpoint/2010/main" val="2050273642"/>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465C47-4DCF-4195-B35C-75A2477E9AD8}"/>
              </a:ext>
            </a:extLst>
          </p:cNvPr>
          <p:cNvSpPr>
            <a:spLocks xmlns:a="http://schemas.openxmlformats.org/drawingml/2006/main" noGrp="1"/>
          </p:cNvSpPr>
          <p:nvPr/>
        </p:nvSpPr>
        <p:spPr>
          <a:xfrm xmlns:a="http://schemas.openxmlformats.org/drawingml/2006/main">
            <a:off x="609600" y="4095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047"/>
                </a:solidFill>
              </a:defRPr>
            </a:defPPr>
          </a:lstStyle>
          <a:p xmlns:a="http://schemas.openxmlformats.org/drawingml/2006/main">
            <a:pPr>
              <a:defRPr sz="3300" b="1">
                <a:solidFill>
                  <a:srgbClr val="123047"/>
                </a:solidFill>
              </a:defRPr>
            </a:pPr>
            <a:r>
              <a:rPr sz="3300" b="1">
                <a:solidFill>
                  <a:srgbClr val="123047"/>
                </a:solidFill>
              </a:rPr>
              <a:t>Conclusion and Next Steps</a:t>
            </a:r>
          </a:p>
        </p:txBody>
      </p:sp>
      <p:sp>
        <p:nvSpPr>
          <p:cNvPr id="2" name="">
            <a:extLst xmlns:a="http://schemas.openxmlformats.org/drawingml/2006/main">
              <a:ext uri="{FF2B5EF4-FFF2-40B4-BE49-F238E27FC236}">
                <a16:creationId xmlns:a16="http://schemas.microsoft.com/office/drawing/2014/main" id="{58F703E5-778F-440A-9205-58445B153912}"/>
              </a:ext>
            </a:extLst>
          </p:cNvPr>
          <p:cNvSpPr>
            <a:spLocks xmlns:a="http://schemas.openxmlformats.org/drawingml/2006/main" noGrp="1"/>
          </p:cNvSpPr>
          <p:nvPr/>
        </p:nvSpPr>
        <p:spPr>
          <a:xfrm xmlns:a="http://schemas.openxmlformats.org/drawingml/2006/main">
            <a:off x="10668000" y="63246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87F8C"/>
                </a:solidFill>
              </a:defRPr>
            </a:defPPr>
          </a:lstStyle>
          <a:p xmlns:a="http://schemas.openxmlformats.org/drawingml/2006/main">
            <a:pPr>
              <a:defRPr sz="1200" b="0">
                <a:solidFill>
                  <a:srgbClr val="087F8C"/>
                </a:solidFill>
              </a:defRPr>
            </a:pPr>
            <a:r>
              <a:rPr sz="1200" b="0">
                <a:solidFill>
                  <a:srgbClr val="087F8C"/>
                </a:solidFill>
              </a:rPr>
              <a:t>12  /  12</a:t>
            </a:r>
          </a:p>
        </p:txBody>
      </p:sp>
      <p:sp>
        <p:nvSpPr>
          <p:cNvPr id="3" name="">
            <a:extLst xmlns:a="http://schemas.openxmlformats.org/drawingml/2006/main">
              <a:ext uri="{FF2B5EF4-FFF2-40B4-BE49-F238E27FC236}">
                <a16:creationId xmlns:a16="http://schemas.microsoft.com/office/drawing/2014/main" id="{010BAD3D-2B72-475C-97AD-671578AABDA0}"/>
              </a:ext>
            </a:extLst>
          </p:cNvPr>
          <p:cNvSpPr>
            <a:spLocks xmlns:a="http://schemas.openxmlformats.org/drawingml/2006/main" noGrp="1"/>
          </p:cNvSpPr>
          <p:nvPr/>
        </p:nvSpPr>
        <p:spPr>
          <a:xfrm xmlns:a="http://schemas.openxmlformats.org/drawingml/2006/main">
            <a:off x="666750" y="16192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F50"/>
                </a:solidFill>
              </a:defRPr>
            </a:defPPr>
          </a:lstStyle>
          <a:p xmlns:a="http://schemas.openxmlformats.org/drawingml/2006/main">
            <a:pPr>
              <a:defRPr sz="2325" b="0">
                <a:solidFill>
                  <a:srgbClr val="263F50"/>
                </a:solidFill>
              </a:defRPr>
            </a:pPr>
            <a:r>
              <a:rPr sz="2325" b="0">
                <a:solidFill>
                  <a:srgbClr val="263F50"/>
                </a:solidFill>
              </a:rPr>
              <a:t>The controller covers the declared domain and explains its commands.</a:t>
            </a:r>
          </a:p>
        </p:txBody>
      </p:sp>
      <p:sp>
        <p:nvSpPr>
          <p:cNvPr id="4" name="">
            <a:extLst xmlns:a="http://schemas.openxmlformats.org/drawingml/2006/main">
              <a:ext uri="{FF2B5EF4-FFF2-40B4-BE49-F238E27FC236}">
                <a16:creationId xmlns:a16="http://schemas.microsoft.com/office/drawing/2014/main" id="{340E5CD7-C6CB-4EB4-BE0F-01E966C608B2}"/>
              </a:ext>
            </a:extLst>
          </p:cNvPr>
          <p:cNvSpPr>
            <a:spLocks xmlns:a="http://schemas.openxmlformats.org/drawingml/2006/main" noGrp="1"/>
          </p:cNvSpPr>
          <p:nvPr/>
        </p:nvSpPr>
        <p:spPr>
          <a:xfrm xmlns:a="http://schemas.openxmlformats.org/drawingml/2006/main">
            <a:off x="666750" y="26670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F50"/>
                </a:solidFill>
              </a:defRPr>
            </a:defPPr>
          </a:lstStyle>
          <a:p xmlns:a="http://schemas.openxmlformats.org/drawingml/2006/main">
            <a:pPr>
              <a:defRPr sz="2325" b="0">
                <a:solidFill>
                  <a:srgbClr val="263F50"/>
                </a:solidFill>
              </a:defRPr>
            </a:pPr>
            <a:r>
              <a:rPr sz="2325" b="0">
                <a:solidFill>
                  <a:srgbClr val="263F50"/>
                </a:solidFill>
              </a:rPr>
              <a:t>Local nonmonotonic behavior and GP approximation error remain visible.</a:t>
            </a:r>
          </a:p>
        </p:txBody>
      </p:sp>
      <p:sp>
        <p:nvSpPr>
          <p:cNvPr id="5" name="">
            <a:extLst xmlns:a="http://schemas.openxmlformats.org/drawingml/2006/main">
              <a:ext uri="{FF2B5EF4-FFF2-40B4-BE49-F238E27FC236}">
                <a16:creationId xmlns:a16="http://schemas.microsoft.com/office/drawing/2014/main" id="{71D8D7A7-AFF3-447B-97F3-D83AED988105}"/>
              </a:ext>
            </a:extLst>
          </p:cNvPr>
          <p:cNvSpPr>
            <a:spLocks xmlns:a="http://schemas.openxmlformats.org/drawingml/2006/main" noGrp="1"/>
          </p:cNvSpPr>
          <p:nvPr/>
        </p:nvSpPr>
        <p:spPr>
          <a:xfrm xmlns:a="http://schemas.openxmlformats.org/drawingml/2006/main">
            <a:off x="666750" y="37147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F50"/>
                </a:solidFill>
              </a:defRPr>
            </a:defPPr>
          </a:lstStyle>
          <a:p xmlns:a="http://schemas.openxmlformats.org/drawingml/2006/main">
            <a:pPr>
              <a:defRPr sz="2325" b="0">
                <a:solidFill>
                  <a:srgbClr val="263F50"/>
                </a:solidFill>
              </a:defRPr>
            </a:pPr>
            <a:r>
              <a:rPr sz="2325" b="0">
                <a:solidFill>
                  <a:srgbClr val="263F50"/>
                </a:solidFill>
              </a:rPr>
              <a:t>Next: calibrate rules, enforce monotonicity and validate a physical fan.</a:t>
            </a:r>
          </a:p>
        </p:txBody>
      </p:sp>
      <p:sp>
        <p:nvSpPr>
          <p:cNvPr id="6" name="">
            <a:extLst xmlns:a="http://schemas.openxmlformats.org/drawingml/2006/main">
              <a:ext uri="{FF2B5EF4-FFF2-40B4-BE49-F238E27FC236}">
                <a16:creationId xmlns:a16="http://schemas.microsoft.com/office/drawing/2014/main" id="{554B100F-9490-49B7-960E-0AC2E270E64B}"/>
              </a:ext>
            </a:extLst>
          </p:cNvPr>
          <p:cNvSpPr>
            <a:spLocks xmlns:a="http://schemas.openxmlformats.org/drawingml/2006/main" noGrp="1"/>
          </p:cNvSpPr>
          <p:nvPr/>
        </p:nvSpPr>
        <p:spPr>
          <a:xfrm xmlns:a="http://schemas.openxmlformats.org/drawingml/2006/main">
            <a:off x="666750" y="51435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87F8C"/>
                </a:solidFill>
              </a:defRPr>
            </a:defPPr>
          </a:lstStyle>
          <a:p xmlns:a="http://schemas.openxmlformats.org/drawingml/2006/main">
            <a:pPr>
              <a:defRPr sz="1725" b="0">
                <a:solidFill>
                  <a:srgbClr val="087F8C"/>
                </a:solidFill>
              </a:defRPr>
            </a:pPr>
            <a:r>
              <a:rPr sz="1725" b="0">
                <a:solidFill>
                  <a:srgbClr val="087F8C"/>
                </a:solidFill>
              </a:rPr>
              <a:t>Method references: official scikit-fuzzy control example and DEAP GP tutorial.</a:t>
            </a:r>
          </a:p>
          <a:p xmlns:a="http://schemas.openxmlformats.org/drawingml/2006/main">
            <a:pPr>
              <a:defRPr sz="1725" b="0">
                <a:solidFill>
                  <a:srgbClr val="087F8C"/>
                </a:solidFill>
              </a:defRPr>
            </a:pPr>
            <a:r>
              <a:rPr sz="1725" b="0">
                <a:solidFill>
                  <a:srgbClr val="087F8C"/>
                </a:solidFill>
              </a:rPr>
              <a:t>Full URLs and experiment details appear in the report and speaker notes.</a:t>
            </a:r>
          </a:p>
        </p:txBody>
      </p:sp>
    </p:spTree>
    <p:extLst>
      <p:ext uri="{BB962C8B-B14F-4D97-AF65-F5344CB8AC3E}">
        <p14:creationId xmlns:p14="http://schemas.microsoft.com/office/powerpoint/2010/main" val="21340580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2026-10-08T07:48:01.7790000Z</dcterms:created>
  <dcterms:modified xsi:type="dcterms:W3CDTF">2026-10-08T07:48:01.7790000Z</dcterms:modified>
</coreProperties>
</file>